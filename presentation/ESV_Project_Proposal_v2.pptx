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A3B449-B50B-FE01-1841-51B8A11883CC}">
          <p14:sldIdLst>
            <p14:sldId id="256"/>
            <p14:sldId id="257"/>
          </p14:sldIdLst>
        </p14:section>
        <p14:section name="Background" id="{83ADBAF6-77DB-CBF6-D73E-336501F7313A}">
          <p14:sldIdLst>
            <p14:sldId id="258"/>
            <p14:sldId id="259"/>
          </p14:sldIdLst>
        </p14:section>
        <p14:section name="Method" id="{A125E505-92AC-42F1-1367-9AA166305100}">
          <p14:sldIdLst>
            <p14:sldId id="260"/>
            <p14:sldId id="261"/>
            <p14:sldId id="262"/>
          </p14:sldIdLst>
        </p14:section>
        <p14:section name="Pilot" id="{3012A685-2E65-31A5-11C4-A77A41E91366}">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302"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B2E"/>
                </a:solidFill>
                <a:latin typeface="+mn-lt"/>
              </a:defRPr>
            </a:pPr>
            <a:r>
              <a:rPr lang="en-US" sz="1400" b="0" i="0" u="none" strike="noStrike">
                <a:solidFill>
                  <a:srgbClr val="1A1B2E"/>
                </a:solidFill>
                <a:latin typeface="+mn-lt"/>
              </a:rPr>
              <a:t>A  Accuracy by method (%)</a:t>
            </a:r>
          </a:p>
        </c:rich>
      </c:tx>
      <c:overlay val="0"/>
    </c:title>
    <c:autoTitleDeleted val="0"/>
    <c:plotArea>
      <c:layout/>
      <c:barChart>
        <c:barDir val="col"/>
        <c:grouping val="clustered"/>
        <c:varyColors val="0"/>
        <c:ser>
          <c:idx val="0"/>
          <c:order val="0"/>
          <c:tx>
            <c:strRef>
              <c:f>Sheet1!$B$1</c:f>
              <c:strCache>
                <c:ptCount val="1"/>
                <c:pt idx="0">
                  <c:v>Direct QA</c:v>
                </c:pt>
              </c:strCache>
            </c:strRef>
          </c:tx>
          <c:spPr>
            <a:solidFill>
              <a:srgbClr val="8C8C8C"/>
            </a:solidFill>
            <a:effectLst/>
          </c:spPr>
          <c:invertIfNegative val="0"/>
          <c:dLbls>
            <c:numFmt formatCode="0.0" sourceLinked="0"/>
            <c:spPr>
              <a:noFill/>
              <a:ln>
                <a:noFill/>
              </a:ln>
              <a:effectLst/>
            </c:spPr>
            <c:txPr>
              <a:bodyPr/>
              <a:lstStyle/>
              <a:p>
                <a:pPr>
                  <a:defRPr sz="9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Original</c:v>
                </c:pt>
                <c:pt idx="1">
                  <c:v>Perturbed</c:v>
                </c:pt>
                <c:pt idx="2">
                  <c:v>Overall</c:v>
                </c:pt>
              </c:strCache>
            </c:strRef>
          </c:cat>
          <c:val>
            <c:numRef>
              <c:f>Sheet1!$B$2:$B$4</c:f>
              <c:numCache>
                <c:formatCode>0.0</c:formatCode>
                <c:ptCount val="3"/>
                <c:pt idx="0">
                  <c:v>31.2</c:v>
                </c:pt>
                <c:pt idx="1">
                  <c:v>25.0</c:v>
                </c:pt>
                <c:pt idx="2">
                  <c:v>28.1</c:v>
                </c:pt>
              </c:numCache>
            </c:numRef>
          </c:val>
          <c:extLst>
            <c:ext xmlns:c16="http://schemas.microsoft.com/office/drawing/2014/chart" uri="{C3380CC4-5D6E-409C-BE32-E72D297353CC}">
              <c16:uniqueId val="{00000000-F2AB-4919-9E19-1152812FFBFB}"/>
            </c:ext>
          </c:extLst>
        </c:ser>
        <c:ser>
          <c:idx val="1"/>
          <c:order val="1"/>
          <c:tx>
            <c:strRef>
              <c:f>Sheet1!$C$1</c:f>
              <c:strCache>
                <c:ptCount val="1"/>
                <c:pt idx="0">
                  <c:v>CoT</c:v>
                </c:pt>
              </c:strCache>
            </c:strRef>
          </c:tx>
          <c:spPr>
            <a:solidFill>
              <a:srgbClr val="3B5BA9"/>
            </a:solidFill>
            <a:effectLst/>
          </c:spPr>
          <c:invertIfNegative val="0"/>
          <c:dLbls>
            <c:numFmt formatCode="0.0" sourceLinked="0"/>
            <c:spPr>
              <a:noFill/>
              <a:ln>
                <a:noFill/>
              </a:ln>
              <a:effectLst/>
            </c:spPr>
            <c:txPr>
              <a:bodyPr/>
              <a:lstStyle/>
              <a:p>
                <a:pPr>
                  <a:defRPr sz="9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Original</c:v>
                </c:pt>
                <c:pt idx="1">
                  <c:v>Perturbed</c:v>
                </c:pt>
                <c:pt idx="2">
                  <c:v>Overall</c:v>
                </c:pt>
              </c:strCache>
            </c:strRef>
          </c:cat>
          <c:val>
            <c:numRef>
              <c:f>Sheet1!$C$2:$C$4</c:f>
              <c:numCache>
                <c:formatCode>0.0</c:formatCode>
                <c:ptCount val="3"/>
                <c:pt idx="0">
                  <c:v>43.8</c:v>
                </c:pt>
                <c:pt idx="1">
                  <c:v>31.2</c:v>
                </c:pt>
                <c:pt idx="2">
                  <c:v>37.5</c:v>
                </c:pt>
              </c:numCache>
            </c:numRef>
          </c:val>
          <c:extLst>
            <c:ext xmlns:c16="http://schemas.microsoft.com/office/drawing/2014/chart" uri="{C3380CC4-5D6E-409C-BE32-E72D297353CC}">
              <c16:uniqueId val="{00000001-F2AB-4919-9E19-1152812FFBFB}"/>
            </c:ext>
          </c:extLst>
        </c:ser>
        <c:ser>
          <c:idx val="2"/>
          <c:order val="2"/>
          <c:tx>
            <c:strRef>
              <c:f>Sheet1!$D$1</c:f>
              <c:strCache>
                <c:ptCount val="1"/>
                <c:pt idx="0">
                  <c:v>ESV</c:v>
                </c:pt>
              </c:strCache>
            </c:strRef>
          </c:tx>
          <c:spPr>
            <a:solidFill>
              <a:srgbClr val="2E7D5B"/>
            </a:solidFill>
            <a:effectLst/>
          </c:spPr>
          <c:invertIfNegative val="0"/>
          <c:dLbls>
            <c:numFmt formatCode="0.0" sourceLinked="0"/>
            <c:spPr>
              <a:noFill/>
              <a:ln>
                <a:noFill/>
              </a:ln>
              <a:effectLst/>
            </c:spPr>
            <c:txPr>
              <a:bodyPr/>
              <a:lstStyle/>
              <a:p>
                <a:pPr>
                  <a:defRPr sz="9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Original</c:v>
                </c:pt>
                <c:pt idx="1">
                  <c:v>Perturbed</c:v>
                </c:pt>
                <c:pt idx="2">
                  <c:v>Overall</c:v>
                </c:pt>
              </c:strCache>
            </c:strRef>
          </c:cat>
          <c:val>
            <c:numRef>
              <c:f>Sheet1!$D$2:$D$4</c:f>
              <c:numCache>
                <c:formatCode>0.0</c:formatCode>
                <c:ptCount val="3"/>
                <c:pt idx="0">
                  <c:v>56.2</c:v>
                </c:pt>
                <c:pt idx="1">
                  <c:v>56.2</c:v>
                </c:pt>
                <c:pt idx="2">
                  <c:v>56.2</c:v>
                </c:pt>
              </c:numCache>
            </c:numRef>
          </c:val>
          <c:extLst>
            <c:ext xmlns:c16="http://schemas.microsoft.com/office/drawing/2014/chart" uri="{C3380CC4-5D6E-409C-BE32-E72D297353CC}">
              <c16:uniqueId val="{00000002-F2AB-4919-9E19-1152812FFBF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DD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A4A"/>
                </a:solidFill>
                <a:latin typeface="+mn-lt"/>
              </a:defRPr>
            </a:pPr>
            <a:endParaRPr lang="en-US"/>
          </a:p>
        </c:txPr>
        <c:crossAx val="2094734554"/>
        <c:crosses val="autoZero"/>
        <c:crossBetween val="between"/>
        <c:majorUnit val="25"/>
      </c:valAx>
      <c:spPr>
        <a:solidFill>
          <a:srgbClr val="FFFFFF"/>
        </a:solidFill>
        <a:ln w="12700" cap="flat">
          <a:solidFill>
            <a:srgbClr val="FFFFFF"/>
          </a:solid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B2E"/>
                </a:solidFill>
                <a:latin typeface="+mn-lt"/>
              </a:defRPr>
            </a:pPr>
            <a:r>
              <a:rPr lang="en-US" sz="1400" b="0" i="0" u="none" strike="noStrike">
                <a:solidFill>
                  <a:srgbClr val="1A1B2E"/>
                </a:solidFill>
                <a:latin typeface="+mn-lt"/>
              </a:rPr>
              <a:t>B  ESV stage accuracy, 19 failures (%)</a:t>
            </a:r>
          </a:p>
        </c:rich>
      </c:tx>
      <c:overlay val="0"/>
    </c:title>
    <c:autoTitleDeleted val="0"/>
    <c:plotArea>
      <c:layout/>
      <c:barChart>
        <c:barDir val="col"/>
        <c:grouping val="clustered"/>
        <c:varyColors val="0"/>
        <c:ser>
          <c:idx val="0"/>
          <c:order val="0"/>
          <c:tx>
            <c:strRef>
              <c:f>Sheet1!$B$1</c:f>
              <c:strCache>
                <c:ptCount val="1"/>
                <c:pt idx="0">
                  <c:v>Stage accuracy</c:v>
                </c:pt>
              </c:strCache>
            </c:strRef>
          </c:tx>
          <c:spPr>
            <a:solidFill>
              <a:srgbClr val="2E7D5B"/>
            </a:solidFill>
            <a:effectLst/>
          </c:spPr>
          <c:invertIfNegative val="0"/>
          <c:dLbls>
            <c:numFmt formatCode="0.0" sourceLinked="0"/>
            <c:spPr>
              <a:noFill/>
              <a:ln>
                <a:noFill/>
              </a:ln>
              <a:effectLst/>
            </c:spPr>
            <c:txPr>
              <a:bodyPr/>
              <a:lstStyle/>
              <a:p>
                <a:pPr>
                  <a:defRPr sz="11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Recognition</c:v>
                </c:pt>
                <c:pt idx="1">
                  <c:v>Diagnosis</c:v>
                </c:pt>
                <c:pt idx="2">
                  <c:v>Alt. strategy</c:v>
                </c:pt>
                <c:pt idx="3">
                  <c:v>Recovery</c:v>
                </c:pt>
              </c:strCache>
            </c:strRef>
          </c:cat>
          <c:val>
            <c:numRef>
              <c:f>Sheet1!$B$2:$B$5</c:f>
              <c:numCache>
                <c:formatCode>General</c:formatCode>
                <c:ptCount val="4"/>
                <c:pt idx="0">
                  <c:v>79</c:v>
                </c:pt>
                <c:pt idx="1">
                  <c:v>15.8</c:v>
                </c:pt>
                <c:pt idx="2">
                  <c:v>36.799999999999997</c:v>
                </c:pt>
                <c:pt idx="3">
                  <c:v>26.3</c:v>
                </c:pt>
              </c:numCache>
            </c:numRef>
          </c:val>
          <c:extLst>
            <c:ext xmlns:c16="http://schemas.microsoft.com/office/drawing/2014/chart" uri="{C3380CC4-5D6E-409C-BE32-E72D297353CC}">
              <c16:uniqueId val="{00000000-CA57-4AFA-BF59-0D1DD8F6BC4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DD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A4A"/>
                </a:solidFill>
                <a:latin typeface="+mn-lt"/>
              </a:defRPr>
            </a:pPr>
            <a:endParaRPr lang="en-US"/>
          </a:p>
        </c:txPr>
        <c:crossAx val="2094734554"/>
        <c:crosses val="autoZero"/>
        <c:crossBetween val="between"/>
        <c:majorUnit val="25"/>
      </c:valAx>
      <c:spPr>
        <a:solidFill>
          <a:srgbClr val="FFFFFF"/>
        </a:solid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B2E"/>
                </a:solidFill>
                <a:latin typeface="+mn-lt"/>
              </a:defRPr>
            </a:pPr>
            <a:r>
              <a:rPr lang="en-US" sz="1400" b="0" i="0" u="none" strike="noStrike">
                <a:solidFill>
                  <a:srgbClr val="1A1B2E"/>
                </a:solidFill>
                <a:latin typeface="+mn-lt"/>
              </a:rPr>
              <a:t>C  Pipeline iterations (%)</a:t>
            </a:r>
          </a:p>
        </c:rich>
      </c:tx>
      <c:overlay val="0"/>
    </c:title>
    <c:autoTitleDeleted val="0"/>
    <c:plotArea>
      <c:layout/>
      <c:barChart>
        <c:barDir val="col"/>
        <c:grouping val="clustered"/>
        <c:varyColors val="0"/>
        <c:ser>
          <c:idx val="0"/>
          <c:order val="0"/>
          <c:tx>
            <c:strRef>
              <c:f>Sheet1!$B$1</c:f>
              <c:strCache>
                <c:ptCount val="1"/>
                <c:pt idx="0">
                  <c:v>Recovery rate</c:v>
                </c:pt>
              </c:strCache>
            </c:strRef>
          </c:tx>
          <c:spPr>
            <a:solidFill>
              <a:srgbClr val="B8740F"/>
            </a:solidFill>
            <a:effectLst/>
          </c:spPr>
          <c:invertIfNegative val="0"/>
          <c:dLbls>
            <c:numFmt formatCode="0.0" sourceLinked="0"/>
            <c:spPr>
              <a:noFill/>
              <a:ln>
                <a:noFill/>
              </a:ln>
              <a:effectLst/>
            </c:spPr>
            <c:txPr>
              <a:bodyPr/>
              <a:lstStyle/>
              <a:p>
                <a:pPr>
                  <a:defRPr sz="11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v2</c:v>
                </c:pt>
                <c:pt idx="1">
                  <c:v>v3</c:v>
                </c:pt>
                <c:pt idx="2">
                  <c:v>v4</c:v>
                </c:pt>
              </c:strCache>
            </c:strRef>
          </c:cat>
          <c:val>
            <c:numRef>
              <c:f>Sheet1!$B$2:$B$4</c:f>
              <c:numCache>
                <c:formatCode>General</c:formatCode>
                <c:ptCount val="3"/>
                <c:pt idx="0">
                  <c:v>0</c:v>
                </c:pt>
                <c:pt idx="1">
                  <c:v>25</c:v>
                </c:pt>
                <c:pt idx="2">
                  <c:v>26.3</c:v>
                </c:pt>
              </c:numCache>
            </c:numRef>
          </c:val>
          <c:extLst>
            <c:ext xmlns:c16="http://schemas.microsoft.com/office/drawing/2014/chart" uri="{C3380CC4-5D6E-409C-BE32-E72D297353CC}">
              <c16:uniqueId val="{00000000-6F10-4003-ABE3-7356CE0508AD}"/>
            </c:ext>
          </c:extLst>
        </c:ser>
        <c:ser>
          <c:idx val="1"/>
          <c:order val="1"/>
          <c:tx>
            <c:strRef>
              <c:f>Sheet1!$C$1</c:f>
              <c:strCache>
                <c:ptCount val="1"/>
                <c:pt idx="0">
                  <c:v>Final accuracy</c:v>
                </c:pt>
              </c:strCache>
            </c:strRef>
          </c:tx>
          <c:spPr>
            <a:solidFill>
              <a:srgbClr val="2E7D5B"/>
            </a:solidFill>
            <a:effectLst/>
          </c:spPr>
          <c:invertIfNegative val="0"/>
          <c:dLbls>
            <c:numFmt formatCode="0.0" sourceLinked="0"/>
            <c:spPr>
              <a:noFill/>
              <a:ln>
                <a:noFill/>
              </a:ln>
              <a:effectLst/>
            </c:spPr>
            <c:txPr>
              <a:bodyPr/>
              <a:lstStyle/>
              <a:p>
                <a:pPr>
                  <a:defRPr sz="11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v2</c:v>
                </c:pt>
                <c:pt idx="1">
                  <c:v>v3</c:v>
                </c:pt>
                <c:pt idx="2">
                  <c:v>v4</c:v>
                </c:pt>
              </c:strCache>
            </c:strRef>
          </c:cat>
          <c:val>
            <c:numRef>
              <c:f>Sheet1!$C$2:$C$4</c:f>
              <c:numCache>
                <c:formatCode>General</c:formatCode>
                <c:ptCount val="3"/>
                <c:pt idx="0">
                  <c:v>37.5</c:v>
                </c:pt>
                <c:pt idx="1">
                  <c:v>53.1</c:v>
                </c:pt>
                <c:pt idx="2">
                  <c:v>56.2</c:v>
                </c:pt>
              </c:numCache>
            </c:numRef>
          </c:val>
          <c:extLst>
            <c:ext xmlns:c16="http://schemas.microsoft.com/office/drawing/2014/chart" uri="{C3380CC4-5D6E-409C-BE32-E72D297353CC}">
              <c16:uniqueId val="{00000001-6F10-4003-ABE3-7356CE0508A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DD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A4A"/>
                </a:solidFill>
                <a:latin typeface="+mn-lt"/>
              </a:defRPr>
            </a:pPr>
            <a:endParaRPr lang="en-US"/>
          </a:p>
        </c:txPr>
        <c:crossAx val="2094734554"/>
        <c:crosses val="autoZero"/>
        <c:crossBetween val="between"/>
        <c:majorUnit val="25"/>
      </c:valAx>
      <c:spPr>
        <a:solidFill>
          <a:srgbClr val="FFFFFF"/>
        </a:solidFill>
        <a:ln w="12700" cap="flat">
          <a:solidFill>
            <a:srgbClr val="FFFFFF"/>
          </a:solid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81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 study what happens when a model's reasoning strategy stops being valid, and propose Explicit Strategy Verification (ESV) to help it recover.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problem P is paired with a strategy-breaking perturbation P'. Each pair is run under Direct QA, CoT and ESV. ESV is my part of the project; Direct QA and CoT are run by Ritvij on the same frozen pairs and models.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JEEBench is our source of hard problems; MATH-PERTURB motivates strategy-breaking perturbations. Neither looks at the failure-and-recovery lifecycle.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Huang et al. is the key paper to position against: generic self-correction fails. ESV is structured, strategy-level verification, and we measure each stage separately.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never grades itself: two other model families verify each perturbation blind. In the pilot, 16 of 20 JEE Advanced 2016 math problems produced an accepted pair.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pair 0 of our frozen dataset. Only the interval changes, but the sign of tan(theta) flips, which changes which root is larger. Re-applying the original strategy gives C; the right answer is 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ESV only runs on genuine failures. Every failure goes through all five stages, so each stage is measured on every failure. Recognition is blind; from diagnosis on, the model knows its first answer was wrong but never what the right answer 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a 7B model: ESV can only help where the initial answer is wrong. Larger models solved nearly everything on this set, so there were no failures to recover. Direct QA and CoT have now been re-run with the same solver, temperature, token cap, retries, question text, answer parsing and scorer as ESV; only the instruction differs.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counts are each measured over all 19 failures, so they are not a nested funnel. The limitations are the points a reviewer will raise, so we state them up front.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Direct QA and CoT re-run under ESV's exact settings (same model, temperature, token cap, question text, parsing and scorer), ESV scores 56.2% vs 37.5% for CoT and 28.1% for Direct QA. On the same 32 instances ESV is uniquely right on 9 and CoT on 3; the exact McNemar p is 0.146, so the gap is promising but not significant at this size. The baselines lose accuracy on perturbed problems (CoT -12.5 pp, Direct QA -6.2 pp) while ESV holds steady. Caveat: ESV only runs its stages when the initial answer is wrong according to the gold answer, so it can never score below its Stage 0 (40.6%), which itself uses the same prompt as CoT. Sanity check: CoT and Stage 0 agree on 21/32 instances. Pairs 10-14 switch from integer to MCQ when perturbed, so original vs perturbed is not like-for-like there.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57400"/>
            <a:ext cx="11094415" cy="1371600"/>
          </a:xfrm>
          <a:prstGeom prst="rect">
            <a:avLst/>
          </a:prstGeom>
          <a:noFill/>
          <a:ln/>
        </p:spPr>
        <p:txBody>
          <a:bodyPr wrap="square" rtlCol="0"/>
          <a:lstStyle>
            <a:lvl1pPr marL="0" indent="0" algn="ctr">
              <a:buNone/>
              <a:defRPr lang="en-US" sz="6000" dirty="0">
                <a:solidFill>
                  <a:schemeClr val="tx1"/>
                </a:solidFill>
              </a:defRPr>
            </a:lvl1pPr>
          </a:lstStyle>
          <a:p>
            <a:pPr marL="0" indent="0" algn="ctr">
              <a:buNone/>
            </a:pPr>
            <a:endParaRPr lang="en-US" sz="6000" dirty="0"/>
          </a:p>
        </p:txBody>
      </p:sp>
      <p:sp>
        <p:nvSpPr>
          <p:cNvPr id="3" name="Text 0"/>
          <p:cNvSpPr>
            <a:spLocks noGrp="1"/>
          </p:cNvSpPr>
          <p:nvPr>
            <p:ph type="body" idx="101" hasCustomPrompt="1"/>
          </p:nvPr>
        </p:nvSpPr>
        <p:spPr>
          <a:xfrm>
            <a:off x="1280160" y="3520440"/>
            <a:ext cx="9631375" cy="868680"/>
          </a:xfrm>
          <a:prstGeom prst="rect">
            <a:avLst/>
          </a:prstGeom>
          <a:noFill/>
          <a:ln/>
        </p:spPr>
        <p:txBody>
          <a:bodyPr wrap="square" rtlCol="0"/>
          <a:lstStyle>
            <a:lvl1pPr marL="0" indent="0" algn="ctr">
              <a:buNone/>
              <a:defRPr lang="en-US" sz="1800" dirty="0">
                <a:solidFill>
                  <a:schemeClr val="tx2"/>
                </a:solidFill>
              </a:defRPr>
            </a:lvl1pPr>
          </a:lstStyle>
          <a:p>
            <a:pPr marL="0" indent="0" algn="ctr">
              <a:buNone/>
            </a:pPr>
            <a:endParaRPr lang="en-US" sz="1800" dirty="0"/>
          </a:p>
        </p:txBody>
      </p:sp>
      <p:sp>
        <p:nvSpPr>
          <p:cNvPr id="4" name="Text 0"/>
          <p:cNvSpPr>
            <a:spLocks noGrp="1"/>
          </p:cNvSpPr>
          <p:nvPr>
            <p:ph type="body" idx="102" hasCustomPrompt="1"/>
          </p:nvPr>
        </p:nvSpPr>
        <p:spPr>
          <a:xfrm>
            <a:off x="548640" y="4572000"/>
            <a:ext cx="11094415" cy="548640"/>
          </a:xfrm>
          <a:prstGeom prst="rect">
            <a:avLst/>
          </a:prstGeom>
          <a:noFill/>
          <a:ln/>
        </p:spPr>
        <p:txBody>
          <a:bodyPr wrap="square" rtlCol="0"/>
          <a:lstStyle>
            <a:lvl1pPr marL="0" indent="0" algn="ctr">
              <a:buNone/>
              <a:defRPr lang="en-US" sz="2200" dirty="0">
                <a:solidFill>
                  <a:schemeClr val="tx2"/>
                </a:solidFill>
              </a:defRPr>
            </a:lvl1pPr>
          </a:lstStyle>
          <a:p>
            <a:pPr marL="0" indent="0" algn="ctr">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lstStyle>
            <a:lvl1pPr marL="0" indent="0" algn="l">
              <a:buNone/>
              <a:defRPr lang="en-US" sz="3600"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arxiv.org/abs/2305.15074" TargetMode="External"/><Relationship Id="rId4" Type="http://schemas.openxmlformats.org/officeDocument/2006/relationships/hyperlink" Target="https://arxiv.org/abs/2502.0645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rxiv.org/abs/2310.0179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57400"/>
            <a:ext cx="11094415" cy="1371600"/>
          </a:xfrm>
          <a:prstGeom prst="rect">
            <a:avLst/>
          </a:prstGeom>
          <a:noFill/>
          <a:ln/>
        </p:spPr>
        <p:txBody>
          <a:bodyPr wrap="square" rtlCol="0" anchor="ctr"/>
          <a:lstStyle/>
          <a:p>
            <a:pPr marL="0" indent="0" algn="ctr">
              <a:buNone/>
            </a:pPr>
            <a:r>
              <a:rPr lang="en-US" sz="6000" b="1" dirty="0">
                <a:solidFill>
                  <a:schemeClr val="tx1"/>
                </a:solidFill>
              </a:rPr>
              <a:t>ESV Project Proposal</a:t>
            </a:r>
            <a:endParaRPr lang="en-US" sz="6000" b="1" dirty="0"/>
          </a:p>
        </p:txBody>
      </p:sp>
      <p:sp>
        <p:nvSpPr>
          <p:cNvPr id="3" name="Text 0"/>
          <p:cNvSpPr>
            <a:spLocks noGrp="1"/>
          </p:cNvSpPr>
          <p:nvPr>
            <p:ph type="body" idx="101" hasCustomPrompt="1"/>
          </p:nvPr>
        </p:nvSpPr>
        <p:spPr>
          <a:xfrm>
            <a:off x="1280160" y="3520440"/>
            <a:ext cx="9631375" cy="868680"/>
          </a:xfrm>
          <a:prstGeom prst="rect">
            <a:avLst/>
          </a:prstGeom>
          <a:noFill/>
          <a:ln/>
        </p:spPr>
        <p:txBody>
          <a:bodyPr wrap="square" rtlCol="0" anchor="t"/>
          <a:lstStyle/>
          <a:p>
            <a:pPr marL="0" indent="0" algn="ctr">
              <a:buNone/>
            </a:pPr>
            <a:r>
              <a:rPr lang="en-US" sz="1800" dirty="0">
                <a:solidFill>
                  <a:schemeClr val="tx2"/>
                </a:solidFill>
              </a:rPr>
              <a:t>Robust Mathematical &amp; Coding Reasoning Through Error Identification, Diagnosis, and Recovery Under Structural Perturbations Through Explicit Strategy Verification (ESV)</a:t>
            </a:r>
            <a:endParaRPr lang="en-US" sz="1800" dirty="0"/>
          </a:p>
        </p:txBody>
      </p:sp>
      <p:sp>
        <p:nvSpPr>
          <p:cNvPr id="4" name="Text 0"/>
          <p:cNvSpPr>
            <a:spLocks noGrp="1"/>
          </p:cNvSpPr>
          <p:nvPr>
            <p:ph type="body" idx="102" hasCustomPrompt="1"/>
          </p:nvPr>
        </p:nvSpPr>
        <p:spPr>
          <a:xfrm>
            <a:off x="548640" y="4572000"/>
            <a:ext cx="11094415" cy="548640"/>
          </a:xfrm>
          <a:prstGeom prst="rect">
            <a:avLst/>
          </a:prstGeom>
          <a:noFill/>
          <a:ln/>
        </p:spPr>
        <p:txBody>
          <a:bodyPr wrap="square" rtlCol="0" anchor="ctr"/>
          <a:lstStyle/>
          <a:p>
            <a:pPr marL="0" indent="0" algn="ctr">
              <a:buNone/>
            </a:pPr>
            <a:r>
              <a:rPr lang="en-US" sz="2200" b="1" dirty="0">
                <a:solidFill>
                  <a:schemeClr val="tx2"/>
                </a:solidFill>
              </a:rPr>
              <a:t>By</a:t>
            </a:r>
            <a:r>
              <a:rPr lang="en-US" sz="2200" dirty="0">
                <a:solidFill>
                  <a:schemeClr val="tx2"/>
                </a:solidFill>
              </a:rPr>
              <a:t>: Ekansh Agrawal and Ritvij Sharma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Main Idea</a:t>
            </a:r>
            <a:endParaRPr lang="en-US" sz="3600" dirty="0"/>
          </a:p>
        </p:txBody>
      </p:sp>
      <p:sp>
        <p:nvSpPr>
          <p:cNvPr id="3" name="main idea text"/>
          <p:cNvSpPr txBox="1"/>
          <p:nvPr/>
        </p:nvSpPr>
        <p:spPr>
          <a:xfrm>
            <a:off x="548640" y="1325880"/>
            <a:ext cx="4160520" cy="4754880"/>
          </a:xfrm>
          <a:prstGeom prst="rect">
            <a:avLst/>
          </a:prstGeom>
          <a:noFill/>
          <a:ln/>
        </p:spPr>
        <p:txBody>
          <a:bodyPr wrap="square" rtlCol="0" anchor="t"/>
          <a:lstStyle/>
          <a:p>
            <a:pPr marL="0" indent="0">
              <a:spcAft>
                <a:spcPts val="600"/>
              </a:spcAft>
              <a:buNone/>
            </a:pPr>
            <a:r>
              <a:rPr lang="en-US" sz="1600" b="1" dirty="0">
                <a:solidFill>
                  <a:schemeClr val="tx2"/>
                </a:solidFill>
              </a:rPr>
              <a:t>Our goal is to test whether an LLM can tell when its reasoning strategy has become invalid, diagnose why, and recover, and whether Explicit Strategy Verification (ESV) makes recovery more reliable than Direct QA or Chain-of-Thought.</a:t>
            </a:r>
            <a:endParaRPr lang="en-US" sz="1600" dirty="0"/>
          </a:p>
          <a:p>
            <a:pPr marL="0" indent="0">
              <a:spcAft>
                <a:spcPts val="600"/>
              </a:spcAft>
              <a:buNone/>
            </a:pPr>
            <a:r>
              <a:rPr lang="en-US" sz="800" dirty="0">
                <a:solidFill>
                  <a:schemeClr val="tx2"/>
                </a:solidFill>
              </a:rPr>
              <a:t> </a:t>
            </a:r>
            <a:endParaRPr lang="en-US" sz="1600" dirty="0"/>
          </a:p>
          <a:p>
            <a:pPr marL="0" indent="0">
              <a:spcAft>
                <a:spcPts val="600"/>
              </a:spcAft>
              <a:buNone/>
            </a:pPr>
            <a:r>
              <a:rPr lang="en-US" sz="1600" dirty="0">
                <a:solidFill>
                  <a:schemeClr val="tx2"/>
                </a:solidFill>
              </a:rPr>
              <a:t>RQ.1  Can models recognize their own reasoning failures?</a:t>
            </a:r>
            <a:endParaRPr lang="en-US" sz="1600" dirty="0"/>
          </a:p>
          <a:p>
            <a:pPr marL="0" indent="0">
              <a:spcAft>
                <a:spcPts val="600"/>
              </a:spcAft>
              <a:buNone/>
            </a:pPr>
            <a:r>
              <a:rPr lang="en-US" sz="1600" dirty="0">
                <a:solidFill>
                  <a:schemeClr val="tx2"/>
                </a:solidFill>
              </a:rPr>
              <a:t>RQ.2  Can they diagnose why the original strategy is no longer valid?</a:t>
            </a:r>
            <a:endParaRPr lang="en-US" sz="1600" dirty="0"/>
          </a:p>
          <a:p>
            <a:pPr marL="0" indent="0">
              <a:spcAft>
                <a:spcPts val="600"/>
              </a:spcAft>
              <a:buNone/>
            </a:pPr>
            <a:r>
              <a:rPr lang="en-US" sz="1600" dirty="0">
                <a:solidFill>
                  <a:schemeClr val="tx2"/>
                </a:solidFill>
              </a:rPr>
              <a:t>RQ.3  Can they adapt their strategy and recover?</a:t>
            </a:r>
            <a:endParaRPr lang="en-US" sz="1600" dirty="0"/>
          </a:p>
          <a:p>
            <a:pPr marL="0" indent="0">
              <a:spcAft>
                <a:spcPts val="600"/>
              </a:spcAft>
              <a:buNone/>
            </a:pPr>
            <a:r>
              <a:rPr lang="en-US" sz="1600" dirty="0">
                <a:solidFill>
                  <a:schemeClr val="tx2"/>
                </a:solidFill>
              </a:rPr>
              <a:t>RQ.4  Does ESV beat Direct QA and CoT, across benchmarks?</a:t>
            </a:r>
            <a:endParaRPr lang="en-US" sz="1600" dirty="0"/>
          </a:p>
        </p:txBody>
      </p:sp>
      <p:sp>
        <p:nvSpPr>
          <p:cNvPr id="4" name="matrix panel"/>
          <p:cNvSpPr/>
          <p:nvPr/>
        </p:nvSpPr>
        <p:spPr>
          <a:xfrm>
            <a:off x="4983480" y="1325880"/>
            <a:ext cx="6656832" cy="4343400"/>
          </a:xfrm>
          <a:prstGeom prst="rect">
            <a:avLst/>
          </a:prstGeom>
          <a:solidFill>
            <a:schemeClr val="tx1"/>
          </a:solidFill>
          <a:ln w="12700">
            <a:solidFill>
              <a:schemeClr val="tx1"/>
            </a:solidFill>
            <a:prstDash val="solid"/>
          </a:ln>
        </p:spPr>
        <p:txBody>
          <a:bodyPr/>
          <a:lstStyle/>
          <a:p>
            <a:endParaRPr lang="en-US"/>
          </a:p>
        </p:txBody>
      </p:sp>
      <p:sp>
        <p:nvSpPr>
          <p:cNvPr id="5" name="matrix heading"/>
          <p:cNvSpPr txBox="1"/>
          <p:nvPr/>
        </p:nvSpPr>
        <p:spPr>
          <a:xfrm>
            <a:off x="5212080" y="1417320"/>
            <a:ext cx="6217920" cy="457200"/>
          </a:xfrm>
          <a:prstGeom prst="rect">
            <a:avLst/>
          </a:prstGeom>
          <a:noFill/>
          <a:ln/>
        </p:spPr>
        <p:txBody>
          <a:bodyPr wrap="square" lIns="0" tIns="0" rIns="0" bIns="0" rtlCol="0" anchor="ctr"/>
          <a:lstStyle/>
          <a:p>
            <a:pPr marL="0" indent="0">
              <a:buNone/>
            </a:pPr>
            <a:r>
              <a:rPr lang="en-US" sz="1800" dirty="0">
                <a:solidFill>
                  <a:schemeClr val="bg1"/>
                </a:solidFill>
              </a:rPr>
              <a:t>The 3 × 2 Evaluation Matrix</a:t>
            </a:r>
            <a:endParaRPr lang="en-US" sz="1800" dirty="0"/>
          </a:p>
        </p:txBody>
      </p:sp>
      <p:graphicFrame>
        <p:nvGraphicFramePr>
          <p:cNvPr id="6" name="evaluation matrix"/>
          <p:cNvGraphicFramePr>
            <a:graphicFrameLocks noGrp="1"/>
          </p:cNvGraphicFramePr>
          <p:nvPr>
            <p:extLst>
              <p:ext uri="{D42A27DB-BD31-4B8C-83A1-F6EECF244321}">
                <p14:modId xmlns:p14="http://schemas.microsoft.com/office/powerpoint/2010/main" val="1579011935"/>
              </p:ext>
            </p:extLst>
          </p:nvPr>
        </p:nvGraphicFramePr>
        <p:xfrm>
          <a:off x="5212080" y="1965960"/>
          <a:ext cx="6217920" cy="3474720"/>
        </p:xfrm>
        <a:graphic>
          <a:graphicData uri="http://schemas.openxmlformats.org/drawingml/2006/table">
            <a:tbl>
              <a:tblPr/>
              <a:tblGrid>
                <a:gridCol w="11887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457200">
                <a:tc>
                  <a:txBody>
                    <a:bodyPr/>
                    <a:lstStyle/>
                    <a:p>
                      <a:pPr marL="0" indent="0">
                        <a:buNone/>
                      </a:pP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b="1" dirty="0">
                          <a:solidFill>
                            <a:srgbClr val="FFFFFF"/>
                          </a:solidFill>
                        </a:rPr>
                        <a:t>Original problem P</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b="1" dirty="0">
                          <a:solidFill>
                            <a:srgbClr val="FFFFFF"/>
                          </a:solidFill>
                        </a:rPr>
                        <a:t>Perturbed problem P′</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extLst>
                  <a:ext uri="{0D108BD9-81ED-4DB2-BD59-A6C34878D82A}">
                    <a16:rowId xmlns:a16="http://schemas.microsoft.com/office/drawing/2014/main" val="10000"/>
                  </a:ext>
                </a:extLst>
              </a:tr>
              <a:tr h="1005840">
                <a:tc>
                  <a:txBody>
                    <a:bodyPr/>
                    <a:lstStyle/>
                    <a:p>
                      <a:pPr marL="0" indent="0">
                        <a:buNone/>
                      </a:pPr>
                      <a:r>
                        <a:rPr lang="en-US" sz="1400" b="1" dirty="0">
                          <a:solidFill>
                            <a:srgbClr val="FFFFFF"/>
                          </a:solidFill>
                        </a:rPr>
                        <a:t>Direct QA</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dirty="0">
                          <a:solidFill>
                            <a:srgbClr val="D9D9D9"/>
                          </a:solidFill>
                        </a:rPr>
                        <a:t>Answer only: baseline accuracy on the unmodified problem</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dirty="0">
                          <a:solidFill>
                            <a:srgbClr val="D9D9D9"/>
                          </a:solidFill>
                        </a:rPr>
                        <a:t>Does accuracy drop once the familiar strategy breaks?</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extLst>
                  <a:ext uri="{0D108BD9-81ED-4DB2-BD59-A6C34878D82A}">
                    <a16:rowId xmlns:a16="http://schemas.microsoft.com/office/drawing/2014/main" val="10001"/>
                  </a:ext>
                </a:extLst>
              </a:tr>
              <a:tr h="1005840">
                <a:tc>
                  <a:txBody>
                    <a:bodyPr/>
                    <a:lstStyle/>
                    <a:p>
                      <a:pPr marL="0" indent="0">
                        <a:buNone/>
                      </a:pPr>
                      <a:r>
                        <a:rPr lang="en-US" sz="1400" b="1" dirty="0">
                          <a:solidFill>
                            <a:srgbClr val="FFFFFF"/>
                          </a:solidFill>
                        </a:rPr>
                        <a:t>CoT</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dirty="0">
                          <a:solidFill>
                            <a:srgbClr val="D9D9D9"/>
                          </a:solidFill>
                        </a:rPr>
                        <a:t>Step-by-step reasoning before the answer</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dirty="0">
                          <a:solidFill>
                            <a:srgbClr val="D9D9D9"/>
                          </a:solidFill>
                        </a:rPr>
                        <a:t>Does explicit reasoning alone add robustness?</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extLst>
                  <a:ext uri="{0D108BD9-81ED-4DB2-BD59-A6C34878D82A}">
                    <a16:rowId xmlns:a16="http://schemas.microsoft.com/office/drawing/2014/main" val="10002"/>
                  </a:ext>
                </a:extLst>
              </a:tr>
              <a:tr h="1005840">
                <a:tc>
                  <a:txBody>
                    <a:bodyPr/>
                    <a:lstStyle/>
                    <a:p>
                      <a:pPr marL="0" indent="0">
                        <a:buNone/>
                      </a:pPr>
                      <a:r>
                        <a:rPr lang="en-US" sz="1400" b="1" dirty="0">
                          <a:solidFill>
                            <a:srgbClr val="FFFFFF"/>
                          </a:solidFill>
                        </a:rPr>
                        <a:t>ESV</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solidFill>
                      <a:srgbClr val="2E7D5B"/>
                    </a:solidFill>
                  </a:tcPr>
                </a:tc>
                <a:tc>
                  <a:txBody>
                    <a:bodyPr/>
                    <a:lstStyle/>
                    <a:p>
                      <a:pPr marL="0" indent="0">
                        <a:buNone/>
                      </a:pPr>
                      <a:r>
                        <a:rPr lang="en-US" sz="1400" dirty="0">
                          <a:solidFill>
                            <a:srgbClr val="FFFFFF"/>
                          </a:solidFill>
                        </a:rPr>
                        <a:t>Verify the strategy, then recognize, diagnose and recover</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solidFill>
                      <a:srgbClr val="2E7D5B"/>
                    </a:solidFill>
                  </a:tcPr>
                </a:tc>
                <a:tc>
                  <a:txBody>
                    <a:bodyPr/>
                    <a:lstStyle/>
                    <a:p>
                      <a:pPr marL="0" indent="0">
                        <a:buNone/>
                      </a:pPr>
                      <a:r>
                        <a:rPr lang="en-US" sz="1400" dirty="0">
                          <a:solidFill>
                            <a:srgbClr val="FFFFFF"/>
                          </a:solidFill>
                        </a:rPr>
                        <a:t>Can the model notice its strategy is invalid and recover?</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solidFill>
                      <a:srgbClr val="2E7D5B"/>
                    </a:solidFill>
                  </a:tcPr>
                </a:tc>
                <a:extLst>
                  <a:ext uri="{0D108BD9-81ED-4DB2-BD59-A6C34878D82A}">
                    <a16:rowId xmlns:a16="http://schemas.microsoft.com/office/drawing/2014/main" val="10003"/>
                  </a:ext>
                </a:extLst>
              </a:tr>
            </a:tbl>
          </a:graphicData>
        </a:graphic>
      </p:graphicFrame>
      <p:sp>
        <p:nvSpPr>
          <p:cNvPr id="7" name="matrix caption"/>
          <p:cNvSpPr txBox="1"/>
          <p:nvPr/>
        </p:nvSpPr>
        <p:spPr>
          <a:xfrm>
            <a:off x="4983480" y="5760720"/>
            <a:ext cx="6656832" cy="411480"/>
          </a:xfrm>
          <a:prstGeom prst="rect">
            <a:avLst/>
          </a:prstGeom>
          <a:noFill/>
          <a:ln/>
        </p:spPr>
        <p:txBody>
          <a:bodyPr wrap="square" rtlCol="0" anchor="ctr"/>
          <a:lstStyle/>
          <a:p>
            <a:pPr marL="0" indent="0" algn="ctr">
              <a:buNone/>
            </a:pPr>
            <a:r>
              <a:rPr lang="en-US" sz="1600" b="1" dirty="0">
                <a:solidFill>
                  <a:schemeClr val="tx2"/>
                </a:solidFill>
              </a:rPr>
              <a:t>Our proposed 3 × 2 evaluation matrix (per model, per benchmark)</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Literature Review + Gaps (Perturbation Robustness)</a:t>
            </a:r>
            <a:endParaRPr lang="en-US" sz="3600" dirty="0"/>
          </a:p>
        </p:txBody>
      </p:sp>
      <p:sp>
        <p:nvSpPr>
          <p:cNvPr id="3" name="card JEEBench (Arora et al., 2023)"/>
          <p:cNvSpPr/>
          <p:nvPr/>
        </p:nvSpPr>
        <p:spPr>
          <a:xfrm>
            <a:off x="548640" y="1371600"/>
            <a:ext cx="11094415" cy="2148840"/>
          </a:xfrm>
          <a:prstGeom prst="roundRect">
            <a:avLst>
              <a:gd name="adj" fmla="val 340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text JEEBench (Arora et al., 2023)"/>
          <p:cNvSpPr txBox="1"/>
          <p:nvPr/>
        </p:nvSpPr>
        <p:spPr>
          <a:xfrm>
            <a:off x="777240" y="1508760"/>
            <a:ext cx="10637215" cy="1874520"/>
          </a:xfrm>
          <a:prstGeom prst="rect">
            <a:avLst/>
          </a:prstGeom>
          <a:noFill/>
          <a:ln/>
        </p:spPr>
        <p:txBody>
          <a:bodyPr wrap="square" rtlCol="0" anchor="t"/>
          <a:lstStyle/>
          <a:p>
            <a:pPr marL="0" indent="0">
              <a:spcAft>
                <a:spcPts val="800"/>
              </a:spcAft>
              <a:buNone/>
            </a:pPr>
            <a:r>
              <a:rPr lang="en-US" sz="1800" b="1" dirty="0">
                <a:solidFill>
                  <a:schemeClr val="tx1"/>
                </a:solidFill>
              </a:rPr>
              <a:t>JEEBench (Arora et al., 2023):  </a:t>
            </a:r>
            <a:r>
              <a:rPr lang="en-US" sz="1400" u="sng" dirty="0">
                <a:solidFill>
                  <a:schemeClr val="accent3"/>
                </a:solidFill>
                <a:hlinkClick r:id="rId3">
                  <a:extLst>
                    <a:ext uri="{A12FA001-AC4F-418D-AE19-62706E023703}">
                      <ahyp:hlinkClr xmlns:ahyp="http://schemas.microsoft.com/office/drawing/2018/hyperlinkcolor" val="tx"/>
                    </a:ext>
                  </a:extLst>
                </a:hlinkClick>
              </a:rPr>
              <a:t>https://arxiv.org/abs/2305.15074</a:t>
            </a:r>
            <a:endParaRPr lang="en-US" sz="1600" dirty="0"/>
          </a:p>
          <a:p>
            <a:pPr marL="0" indent="0">
              <a:spcAft>
                <a:spcPts val="800"/>
              </a:spcAft>
              <a:buNone/>
            </a:pPr>
            <a:r>
              <a:rPr lang="en-US" sz="1600" b="1" dirty="0">
                <a:solidFill>
                  <a:schemeClr val="tx1"/>
                </a:solidFill>
              </a:rPr>
              <a:t>Summary: </a:t>
            </a:r>
            <a:r>
              <a:rPr lang="en-US" sz="1600" dirty="0">
                <a:solidFill>
                  <a:schemeClr val="tx2"/>
                </a:solidFill>
              </a:rPr>
              <a:t>A benchmark of challenging JEE Advanced problems in physics, chemistry and mathematics. Even the strongest models scored far below top human candidates, with failures in long-horizon algebra and in retrieving the right concepts.</a:t>
            </a:r>
            <a:endParaRPr lang="en-US" sz="1600" dirty="0"/>
          </a:p>
          <a:p>
            <a:pPr marL="0" indent="0">
              <a:spcAft>
                <a:spcPts val="800"/>
              </a:spcAft>
              <a:buNone/>
            </a:pPr>
            <a:r>
              <a:rPr lang="en-US" sz="1600" b="1" dirty="0">
                <a:solidFill>
                  <a:schemeClr val="accent2"/>
                </a:solidFill>
              </a:rPr>
              <a:t>Gap: </a:t>
            </a:r>
            <a:r>
              <a:rPr lang="en-US" sz="1600" dirty="0">
                <a:solidFill>
                  <a:schemeClr val="tx2"/>
                </a:solidFill>
              </a:rPr>
              <a:t>Scores only the final answer. It cannot tell whether a model noticed its mistake, understood it, or could recover from it.</a:t>
            </a:r>
            <a:endParaRPr lang="en-US" sz="1600" dirty="0"/>
          </a:p>
        </p:txBody>
      </p:sp>
      <p:sp>
        <p:nvSpPr>
          <p:cNvPr id="5" name="card MATH-PERTURB (Huang et al., 2025)"/>
          <p:cNvSpPr/>
          <p:nvPr/>
        </p:nvSpPr>
        <p:spPr>
          <a:xfrm>
            <a:off x="548640" y="3794760"/>
            <a:ext cx="11094415" cy="2148840"/>
          </a:xfrm>
          <a:prstGeom prst="roundRect">
            <a:avLst>
              <a:gd name="adj" fmla="val 340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MATH-PERTURB (Huang et al., 2025)"/>
          <p:cNvSpPr txBox="1"/>
          <p:nvPr/>
        </p:nvSpPr>
        <p:spPr>
          <a:xfrm>
            <a:off x="777240" y="3931920"/>
            <a:ext cx="10637215" cy="1874520"/>
          </a:xfrm>
          <a:prstGeom prst="rect">
            <a:avLst/>
          </a:prstGeom>
          <a:noFill/>
          <a:ln/>
        </p:spPr>
        <p:txBody>
          <a:bodyPr wrap="square" rtlCol="0" anchor="t"/>
          <a:lstStyle/>
          <a:p>
            <a:pPr marL="0" indent="0">
              <a:spcAft>
                <a:spcPts val="800"/>
              </a:spcAft>
              <a:buNone/>
            </a:pPr>
            <a:r>
              <a:rPr lang="en-US" sz="1800" b="1" dirty="0">
                <a:solidFill>
                  <a:schemeClr val="tx1"/>
                </a:solidFill>
              </a:rPr>
              <a:t>MATH-PERTURB (Huang et al., 2025):  </a:t>
            </a:r>
            <a:r>
              <a:rPr lang="en-US" sz="1400" u="sng" dirty="0">
                <a:solidFill>
                  <a:schemeClr val="accent3"/>
                </a:solidFill>
                <a:hlinkClick r:id="rId4">
                  <a:extLst>
                    <a:ext uri="{A12FA001-AC4F-418D-AE19-62706E023703}">
                      <ahyp:hlinkClr xmlns:ahyp="http://schemas.microsoft.com/office/drawing/2018/hyperlinkcolor" val="tx"/>
                    </a:ext>
                  </a:extLst>
                </a:hlinkClick>
              </a:rPr>
              <a:t>https://arxiv.org/abs/2502.06453</a:t>
            </a:r>
            <a:endParaRPr lang="en-US" sz="1600" dirty="0"/>
          </a:p>
          <a:p>
            <a:pPr marL="0" indent="0">
              <a:spcAft>
                <a:spcPts val="800"/>
              </a:spcAft>
              <a:buNone/>
            </a:pPr>
            <a:r>
              <a:rPr lang="en-US" sz="1600" b="1" dirty="0">
                <a:solidFill>
                  <a:schemeClr val="tx1"/>
                </a:solidFill>
              </a:rPr>
              <a:t>Summary: </a:t>
            </a:r>
            <a:r>
              <a:rPr lang="en-US" sz="1600" dirty="0">
                <a:solidFill>
                  <a:schemeClr val="tx2"/>
                </a:solidFill>
              </a:rPr>
              <a:t>Applies simple and hard perturbations to competition math problems. Hard perturbations change the problem so the original solution no longer applies, and model accuracy drops sharply: models blindly reuse familiar solution strategies.</a:t>
            </a:r>
            <a:endParaRPr lang="en-US" sz="1600" dirty="0"/>
          </a:p>
          <a:p>
            <a:pPr marL="0" indent="0">
              <a:spcAft>
                <a:spcPts val="800"/>
              </a:spcAft>
              <a:buNone/>
            </a:pPr>
            <a:r>
              <a:rPr lang="en-US" sz="1600" b="1" dirty="0">
                <a:solidFill>
                  <a:schemeClr val="accent2"/>
                </a:solidFill>
              </a:rPr>
              <a:t>Gap: </a:t>
            </a:r>
            <a:r>
              <a:rPr lang="en-US" sz="1600" dirty="0">
                <a:solidFill>
                  <a:schemeClr val="tx2"/>
                </a:solidFill>
              </a:rPr>
              <a:t>Diagnoses the failure mode but proposes no remedy. It does not measure whether models can recognize, diagnose or recover from a broken strategy.</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Literature Review + Gaps (Self-Correction)</a:t>
            </a:r>
            <a:endParaRPr lang="en-US" sz="3600" dirty="0"/>
          </a:p>
        </p:txBody>
      </p:sp>
      <p:sp>
        <p:nvSpPr>
          <p:cNvPr id="3" name="card LLMs Cannot Self-Correct Reasoning Yet (Huang et al., 2024)"/>
          <p:cNvSpPr/>
          <p:nvPr/>
        </p:nvSpPr>
        <p:spPr>
          <a:xfrm>
            <a:off x="548640" y="1371600"/>
            <a:ext cx="11094415" cy="2148840"/>
          </a:xfrm>
          <a:prstGeom prst="roundRect">
            <a:avLst>
              <a:gd name="adj" fmla="val 340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text LLMs Cannot Self-Correct Reasoning Yet (Huang et al., 2024)"/>
          <p:cNvSpPr txBox="1"/>
          <p:nvPr/>
        </p:nvSpPr>
        <p:spPr>
          <a:xfrm>
            <a:off x="777240" y="1508760"/>
            <a:ext cx="10637215" cy="1874520"/>
          </a:xfrm>
          <a:prstGeom prst="rect">
            <a:avLst/>
          </a:prstGeom>
          <a:noFill/>
          <a:ln/>
        </p:spPr>
        <p:txBody>
          <a:bodyPr wrap="square" rtlCol="0" anchor="t"/>
          <a:lstStyle/>
          <a:p>
            <a:pPr marL="0" indent="0">
              <a:spcAft>
                <a:spcPts val="800"/>
              </a:spcAft>
              <a:buNone/>
            </a:pPr>
            <a:r>
              <a:rPr lang="en-US" sz="1800" b="1" dirty="0">
                <a:solidFill>
                  <a:schemeClr val="tx1"/>
                </a:solidFill>
              </a:rPr>
              <a:t>LLMs Cannot Self-Correct Reasoning Yet (Huang et al., 2024):  </a:t>
            </a:r>
            <a:r>
              <a:rPr lang="en-US" sz="1400" u="sng" dirty="0">
                <a:solidFill>
                  <a:schemeClr val="accent3"/>
                </a:solidFill>
                <a:hlinkClick r:id="rId3">
                  <a:extLst>
                    <a:ext uri="{A12FA001-AC4F-418D-AE19-62706E023703}">
                      <ahyp:hlinkClr xmlns:ahyp="http://schemas.microsoft.com/office/drawing/2018/hyperlinkcolor" val="tx"/>
                    </a:ext>
                  </a:extLst>
                </a:hlinkClick>
              </a:rPr>
              <a:t>https://arxiv.org/abs/2310.01798</a:t>
            </a:r>
            <a:endParaRPr lang="en-US" sz="1600" dirty="0"/>
          </a:p>
          <a:p>
            <a:pPr marL="0" indent="0">
              <a:spcAft>
                <a:spcPts val="800"/>
              </a:spcAft>
              <a:buNone/>
            </a:pPr>
            <a:r>
              <a:rPr lang="en-US" sz="1600" b="1" dirty="0">
                <a:solidFill>
                  <a:schemeClr val="tx1"/>
                </a:solidFill>
              </a:rPr>
              <a:t>Summary: </a:t>
            </a:r>
            <a:r>
              <a:rPr lang="en-US" sz="1600" dirty="0">
                <a:solidFill>
                  <a:schemeClr val="tx2"/>
                </a:solidFill>
              </a:rPr>
              <a:t>Shows that intrinsic self-correction (asking a model to review its own answer, without external feedback) does not reliably improve reasoning and can even make it worse; earlier reported gains relied on oracle labels.</a:t>
            </a:r>
            <a:endParaRPr lang="en-US" sz="1600" dirty="0"/>
          </a:p>
          <a:p>
            <a:pPr marL="0" indent="0">
              <a:spcAft>
                <a:spcPts val="800"/>
              </a:spcAft>
              <a:buNone/>
            </a:pPr>
            <a:r>
              <a:rPr lang="en-US" sz="1600" b="1" dirty="0">
                <a:solidFill>
                  <a:schemeClr val="accent2"/>
                </a:solidFill>
              </a:rPr>
              <a:t>Gap: </a:t>
            </a:r>
            <a:r>
              <a:rPr lang="en-US" sz="1600" dirty="0">
                <a:solidFill>
                  <a:schemeClr val="tx2"/>
                </a:solidFill>
              </a:rPr>
              <a:t>Tests generic "review your answer" prompting. It does not test structured, strategy-level verification, nor measure recognition, diagnosis and recovery as separate stages.</a:t>
            </a:r>
            <a:endParaRPr lang="en-US" sz="1600" dirty="0"/>
          </a:p>
        </p:txBody>
      </p:sp>
      <p:sp>
        <p:nvSpPr>
          <p:cNvPr id="5" name="card our gap"/>
          <p:cNvSpPr/>
          <p:nvPr/>
        </p:nvSpPr>
        <p:spPr>
          <a:xfrm>
            <a:off x="548640" y="3794760"/>
            <a:ext cx="11094415" cy="2148840"/>
          </a:xfrm>
          <a:prstGeom prst="roundRect">
            <a:avLst>
              <a:gd name="adj" fmla="val 340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6" name="gap heading"/>
          <p:cNvSpPr txBox="1"/>
          <p:nvPr/>
        </p:nvSpPr>
        <p:spPr>
          <a:xfrm>
            <a:off x="777240" y="3931920"/>
            <a:ext cx="7315200" cy="457200"/>
          </a:xfrm>
          <a:prstGeom prst="rect">
            <a:avLst/>
          </a:prstGeom>
          <a:noFill/>
          <a:ln/>
        </p:spPr>
        <p:txBody>
          <a:bodyPr wrap="square" lIns="0" tIns="0" rIns="0" bIns="0" rtlCol="0" anchor="ctr"/>
          <a:lstStyle/>
          <a:p>
            <a:pPr marL="0" indent="0">
              <a:buNone/>
            </a:pPr>
            <a:r>
              <a:rPr lang="en-US" sz="2000" b="1" dirty="0">
                <a:solidFill>
                  <a:schemeClr val="accent1"/>
                </a:solidFill>
              </a:rPr>
              <a:t>The gap our project fills</a:t>
            </a:r>
            <a:endParaRPr lang="en-US" sz="2000" dirty="0"/>
          </a:p>
        </p:txBody>
      </p:sp>
      <p:sp>
        <p:nvSpPr>
          <p:cNvPr id="7" name="gap bullets"/>
          <p:cNvSpPr txBox="1"/>
          <p:nvPr/>
        </p:nvSpPr>
        <p:spPr>
          <a:xfrm>
            <a:off x="777240" y="4434840"/>
            <a:ext cx="10637215" cy="141732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Recognition, diagnosis and recovery have so far been studied in isolation, never as one lifecycle.</a:t>
            </a:r>
            <a:endParaRPr lang="en-US" sz="1600" dirty="0"/>
          </a:p>
          <a:p>
            <a:pPr marL="342900" indent="-342900">
              <a:spcAft>
                <a:spcPts val="800"/>
              </a:spcAft>
              <a:buSzPct val="100000"/>
              <a:buChar char="•"/>
            </a:pPr>
            <a:r>
              <a:rPr lang="en-US" sz="1600" dirty="0">
                <a:solidFill>
                  <a:schemeClr val="tx1"/>
                </a:solidFill>
              </a:rPr>
              <a:t>No benchmark pairs each problem with a verified strategy-breaking perturbation and scores every stage.</a:t>
            </a:r>
            <a:endParaRPr lang="en-US" sz="1600" dirty="0"/>
          </a:p>
          <a:p>
            <a:pPr marL="342900" indent="-342900">
              <a:spcAft>
                <a:spcPts val="800"/>
              </a:spcAft>
              <a:buSzPct val="100000"/>
              <a:buChar char="•"/>
            </a:pPr>
            <a:r>
              <a:rPr lang="en-US" sz="1600" dirty="0">
                <a:solidFill>
                  <a:schemeClr val="tx1"/>
                </a:solidFill>
              </a:rPr>
              <a:t>ESV replaces generic self-review with explicit checks of the conditions a strategy depends on.</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Our Plan for Building Strategy-Breaking Perturbations</a:t>
            </a:r>
            <a:endParaRPr lang="en-US" sz="3600" dirty="0"/>
          </a:p>
        </p:txBody>
      </p:sp>
      <p:sp>
        <p:nvSpPr>
          <p:cNvPr id="3" name="badge 1"/>
          <p:cNvSpPr/>
          <p:nvPr/>
        </p:nvSpPr>
        <p:spPr>
          <a:xfrm>
            <a:off x="548640" y="141732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4" name="badge 1 label"/>
          <p:cNvSpPr txBox="1"/>
          <p:nvPr/>
        </p:nvSpPr>
        <p:spPr>
          <a:xfrm>
            <a:off x="548640" y="141732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step 1"/>
          <p:cNvSpPr txBox="1"/>
          <p:nvPr/>
        </p:nvSpPr>
        <p:spPr>
          <a:xfrm>
            <a:off x="1097280" y="1371600"/>
            <a:ext cx="6400800" cy="146304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Step 1: Generate</a:t>
            </a:r>
            <a:endParaRPr lang="en-US" sz="1500" dirty="0"/>
          </a:p>
          <a:p>
            <a:pPr marL="0" indent="0">
              <a:spcAft>
                <a:spcPts val="400"/>
              </a:spcAft>
              <a:buNone/>
            </a:pPr>
            <a:r>
              <a:rPr lang="en-US" sz="1500" dirty="0">
                <a:solidFill>
                  <a:schemeClr val="tx2"/>
                </a:solidFill>
              </a:rPr>
              <a:t>Model A (DeepSeek V4 Flash) reads P and its answer, names the strategy S that solves it, and changes one structural condition so S breaks. It outputs P′, the changed condition and an alternative strategy S′.</a:t>
            </a:r>
            <a:endParaRPr lang="en-US" sz="1500" dirty="0"/>
          </a:p>
        </p:txBody>
      </p:sp>
      <p:sp>
        <p:nvSpPr>
          <p:cNvPr id="6" name="badge 2"/>
          <p:cNvSpPr/>
          <p:nvPr/>
        </p:nvSpPr>
        <p:spPr>
          <a:xfrm>
            <a:off x="548640" y="301752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7" name="badge 2 label"/>
          <p:cNvSpPr txBox="1"/>
          <p:nvPr/>
        </p:nvSpPr>
        <p:spPr>
          <a:xfrm>
            <a:off x="548640" y="301752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step 2"/>
          <p:cNvSpPr txBox="1"/>
          <p:nvPr/>
        </p:nvSpPr>
        <p:spPr>
          <a:xfrm>
            <a:off x="1097280" y="2971800"/>
            <a:ext cx="6400800" cy="146304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Step 2: Verify blind</a:t>
            </a:r>
            <a:endParaRPr lang="en-US" sz="1500" dirty="0"/>
          </a:p>
          <a:p>
            <a:pPr marL="0" indent="0">
              <a:spcAft>
                <a:spcPts val="400"/>
              </a:spcAft>
              <a:buNone/>
            </a:pPr>
            <a:r>
              <a:rPr lang="en-US" sz="1500" dirty="0">
                <a:solidFill>
                  <a:schemeClr val="tx2"/>
                </a:solidFill>
              </a:rPr>
              <a:t>Models B (Qwen 3.5 35B) and C (GPT-OSS-120B) solve P′ without seeing P or Model A's answer, then apply the original strategy S to P′. Both must show that S now fails.</a:t>
            </a:r>
            <a:endParaRPr lang="en-US" sz="1500" dirty="0"/>
          </a:p>
        </p:txBody>
      </p:sp>
      <p:sp>
        <p:nvSpPr>
          <p:cNvPr id="9" name="badge 3"/>
          <p:cNvSpPr/>
          <p:nvPr/>
        </p:nvSpPr>
        <p:spPr>
          <a:xfrm>
            <a:off x="548640" y="461772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0" name="badge 3 label"/>
          <p:cNvSpPr txBox="1"/>
          <p:nvPr/>
        </p:nvSpPr>
        <p:spPr>
          <a:xfrm>
            <a:off x="548640" y="461772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step 3"/>
          <p:cNvSpPr txBox="1"/>
          <p:nvPr/>
        </p:nvSpPr>
        <p:spPr>
          <a:xfrm>
            <a:off x="1097280" y="4572000"/>
            <a:ext cx="6400800" cy="146304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Step 3: Validate &amp; freeze</a:t>
            </a:r>
            <a:endParaRPr lang="en-US" sz="1500" dirty="0"/>
          </a:p>
          <a:p>
            <a:pPr marL="0" indent="0">
              <a:spcAft>
                <a:spcPts val="400"/>
              </a:spcAft>
              <a:buNone/>
            </a:pPr>
            <a:r>
              <a:rPr lang="en-US" sz="1500" dirty="0">
                <a:solidFill>
                  <a:schemeClr val="tx2"/>
                </a:solidFill>
              </a:rPr>
              <a:t>B and C must agree on the answer to P′ with confidence ≥ 0.6. Accepted pairs (P, A, S) → (P′, A′, S′) are frozen and shown identically to every method and model.</a:t>
            </a:r>
            <a:endParaRPr lang="en-US" sz="1500" dirty="0"/>
          </a:p>
        </p:txBody>
      </p:sp>
      <p:sp>
        <p:nvSpPr>
          <p:cNvPr id="12" name="pilot yield panel"/>
          <p:cNvSpPr/>
          <p:nvPr/>
        </p:nvSpPr>
        <p:spPr>
          <a:xfrm>
            <a:off x="8001000" y="1371600"/>
            <a:ext cx="3639312" cy="4160520"/>
          </a:xfrm>
          <a:prstGeom prst="rect">
            <a:avLst/>
          </a:prstGeom>
          <a:solidFill>
            <a:schemeClr val="tx1"/>
          </a:solidFill>
          <a:ln w="12700">
            <a:solidFill>
              <a:schemeClr val="tx1"/>
            </a:solidFill>
            <a:prstDash val="solid"/>
          </a:ln>
        </p:spPr>
        <p:txBody>
          <a:bodyPr/>
          <a:lstStyle/>
          <a:p>
            <a:endParaRPr lang="en-US"/>
          </a:p>
        </p:txBody>
      </p:sp>
      <p:sp>
        <p:nvSpPr>
          <p:cNvPr id="13" name="yield heading"/>
          <p:cNvSpPr txBox="1"/>
          <p:nvPr/>
        </p:nvSpPr>
        <p:spPr>
          <a:xfrm>
            <a:off x="8229600" y="1508760"/>
            <a:ext cx="3200400" cy="411480"/>
          </a:xfrm>
          <a:prstGeom prst="rect">
            <a:avLst/>
          </a:prstGeom>
          <a:noFill/>
          <a:ln/>
        </p:spPr>
        <p:txBody>
          <a:bodyPr wrap="square" lIns="0" tIns="0" rIns="0" bIns="0" rtlCol="0" anchor="ctr"/>
          <a:lstStyle/>
          <a:p>
            <a:pPr marL="0" indent="0">
              <a:buNone/>
            </a:pPr>
            <a:r>
              <a:rPr lang="en-US" sz="1800" dirty="0">
                <a:solidFill>
                  <a:schemeClr val="bg1"/>
                </a:solidFill>
              </a:rPr>
              <a:t>Pilot yield</a:t>
            </a:r>
            <a:endParaRPr lang="en-US" sz="1800" dirty="0"/>
          </a:p>
        </p:txBody>
      </p:sp>
      <p:sp>
        <p:nvSpPr>
          <p:cNvPr id="14" name="yield stat"/>
          <p:cNvSpPr txBox="1"/>
          <p:nvPr/>
        </p:nvSpPr>
        <p:spPr>
          <a:xfrm>
            <a:off x="8229600" y="1965960"/>
            <a:ext cx="3200400" cy="914400"/>
          </a:xfrm>
          <a:prstGeom prst="rect">
            <a:avLst/>
          </a:prstGeom>
          <a:noFill/>
          <a:ln/>
        </p:spPr>
        <p:txBody>
          <a:bodyPr wrap="square" lIns="0" tIns="0" rIns="0" bIns="0" rtlCol="0" anchor="ctr"/>
          <a:lstStyle/>
          <a:p>
            <a:pPr marL="0" indent="0">
              <a:buNone/>
            </a:pPr>
            <a:r>
              <a:rPr lang="en-US" sz="5400" b="1" dirty="0">
                <a:solidFill>
                  <a:srgbClr val="7FD1A6"/>
                </a:solidFill>
              </a:rPr>
              <a:t>16 / 20</a:t>
            </a:r>
            <a:endParaRPr lang="en-US" sz="5400" dirty="0"/>
          </a:p>
        </p:txBody>
      </p:sp>
      <p:sp>
        <p:nvSpPr>
          <p:cNvPr id="15" name="yield details"/>
          <p:cNvSpPr txBox="1"/>
          <p:nvPr/>
        </p:nvSpPr>
        <p:spPr>
          <a:xfrm>
            <a:off x="8229600" y="2926080"/>
            <a:ext cx="3200400" cy="2926080"/>
          </a:xfrm>
          <a:prstGeom prst="rect">
            <a:avLst/>
          </a:prstGeom>
          <a:noFill/>
          <a:ln/>
        </p:spPr>
        <p:txBody>
          <a:bodyPr wrap="square" lIns="0" tIns="0" rIns="0" bIns="0" rtlCol="0" anchor="t"/>
          <a:lstStyle/>
          <a:p>
            <a:pPr marL="0" indent="0">
              <a:buNone/>
            </a:pPr>
            <a:r>
              <a:rPr lang="en-US" sz="1500" dirty="0">
                <a:solidFill>
                  <a:srgbClr val="D9D9D9"/>
                </a:solidFill>
              </a:rPr>
              <a:t>JEEBench math problems accepted as frozen pairs (80%)</a:t>
            </a:r>
            <a:endParaRPr lang="en-US" sz="1500" dirty="0"/>
          </a:p>
          <a:p>
            <a:pPr marL="0" indent="0">
              <a:buNone/>
            </a:pPr>
            <a:r>
              <a:rPr lang="en-US" sz="600" dirty="0">
                <a:solidFill>
                  <a:srgbClr val="D9D9D9"/>
                </a:solidFill>
              </a:rPr>
              <a:t> </a:t>
            </a:r>
            <a:endParaRPr lang="en-US" sz="1500" dirty="0"/>
          </a:p>
          <a:p>
            <a:pPr marL="0" indent="0">
              <a:buNone/>
            </a:pPr>
            <a:r>
              <a:rPr lang="en-US" sz="1500" dirty="0">
                <a:solidFill>
                  <a:srgbClr val="D9D9D9"/>
                </a:solidFill>
              </a:rPr>
              <a:t>6 MCQ · 5 multi-correct MCQ · 5 integer</a:t>
            </a:r>
            <a:endParaRPr lang="en-US" sz="1500" dirty="0"/>
          </a:p>
          <a:p>
            <a:pPr marL="0" indent="0">
              <a:buNone/>
            </a:pPr>
            <a:r>
              <a:rPr lang="en-US" sz="600" dirty="0">
                <a:solidFill>
                  <a:srgbClr val="D9D9D9"/>
                </a:solidFill>
              </a:rPr>
              <a:t> </a:t>
            </a:r>
            <a:endParaRPr lang="en-US" sz="1500" dirty="0"/>
          </a:p>
          <a:p>
            <a:pPr marL="0" indent="0">
              <a:buNone/>
            </a:pPr>
            <a:r>
              <a:rPr lang="en-US" sz="1500" dirty="0">
                <a:solidFill>
                  <a:srgbClr val="D9D9D9"/>
                </a:solidFill>
              </a:rPr>
              <a:t>≤ 3 generation attempts per problem; rejected candidates get the verifiers' feedback</a:t>
            </a:r>
            <a:endParaRPr lang="en-US" sz="1500" dirty="0"/>
          </a:p>
          <a:p>
            <a:pPr marL="0" indent="0">
              <a:buNone/>
            </a:pPr>
            <a:r>
              <a:rPr lang="en-US" sz="600" dirty="0">
                <a:solidFill>
                  <a:srgbClr val="D9D9D9"/>
                </a:solidFill>
              </a:rPr>
              <a:t> </a:t>
            </a:r>
            <a:endParaRPr lang="en-US" sz="1500" dirty="0"/>
          </a:p>
          <a:p>
            <a:pPr marL="0" indent="0">
              <a:buNone/>
            </a:pPr>
            <a:r>
              <a:rPr lang="en-US" sz="1500" dirty="0">
                <a:solidFill>
                  <a:srgbClr val="D9D9D9"/>
                </a:solidFill>
              </a:rPr>
              <a:t>3 model families (DeepSeek, Qwen, OpenAI): the generator never grades its own perturbation</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What Is a Strategy-Breaking Perturbation?</a:t>
            </a:r>
            <a:endParaRPr lang="en-US" sz="3600" dirty="0"/>
          </a:p>
        </p:txBody>
      </p:sp>
      <p:sp>
        <p:nvSpPr>
          <p:cNvPr id="3" name="definition card"/>
          <p:cNvSpPr/>
          <p:nvPr/>
        </p:nvSpPr>
        <p:spPr>
          <a:xfrm>
            <a:off x="548640" y="1234440"/>
            <a:ext cx="11094415" cy="960120"/>
          </a:xfrm>
          <a:prstGeom prst="roundRect">
            <a:avLst>
              <a:gd name="adj" fmla="val 7619"/>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definition"/>
          <p:cNvSpPr txBox="1"/>
          <p:nvPr/>
        </p:nvSpPr>
        <p:spPr>
          <a:xfrm>
            <a:off x="777240" y="1280160"/>
            <a:ext cx="10637215" cy="868680"/>
          </a:xfrm>
          <a:prstGeom prst="rect">
            <a:avLst/>
          </a:prstGeom>
          <a:noFill/>
          <a:ln/>
        </p:spPr>
        <p:txBody>
          <a:bodyPr wrap="square" rtlCol="0" anchor="ctr"/>
          <a:lstStyle/>
          <a:p>
            <a:pPr marL="0" indent="0">
              <a:buNone/>
            </a:pPr>
            <a:r>
              <a:rPr lang="en-US" sz="1700" i="1" dirty="0">
                <a:solidFill>
                  <a:schemeClr val="tx1"/>
                </a:solidFill>
              </a:rPr>
              <a:t>A perturbation modifies one structure, relationship or constraint of a problem, so that the strategy that worked for the original no longer applies, while the new problem stays well-defined and solvable.</a:t>
            </a:r>
            <a:endParaRPr lang="en-US" sz="1700" dirty="0"/>
          </a:p>
        </p:txBody>
      </p:sp>
      <p:sp>
        <p:nvSpPr>
          <p:cNvPr id="5" name="original example"/>
          <p:cNvSpPr/>
          <p:nvPr/>
        </p:nvSpPr>
        <p:spPr>
          <a:xfrm>
            <a:off x="548640" y="2468880"/>
            <a:ext cx="5074920" cy="2514600"/>
          </a:xfrm>
          <a:prstGeom prst="roundRect">
            <a:avLst>
              <a:gd name="adj" fmla="val 2909"/>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6" name="perturbed example"/>
          <p:cNvSpPr/>
          <p:nvPr/>
        </p:nvSpPr>
        <p:spPr>
          <a:xfrm>
            <a:off x="6568135" y="2468880"/>
            <a:ext cx="5074920" cy="2514600"/>
          </a:xfrm>
          <a:prstGeom prst="roundRect">
            <a:avLst>
              <a:gd name="adj" fmla="val 2909"/>
            </a:avLst>
          </a:prstGeom>
          <a:solidFill>
            <a:schemeClr val="accent6"/>
          </a:solidFill>
          <a:ln w="12700">
            <a:solidFill>
              <a:schemeClr val="accent6"/>
            </a:solidFill>
            <a:prstDash val="solid"/>
          </a:ln>
          <a:effectLst>
            <a:outerShdw blurRad="76200" dist="25400" dir="5400000" algn="bl" rotWithShape="0">
              <a:srgbClr val="000000">
                <a:alpha val="12000"/>
              </a:srgbClr>
            </a:outerShdw>
          </a:effectLst>
        </p:spPr>
        <p:txBody>
          <a:bodyPr/>
          <a:lstStyle/>
          <a:p>
            <a:endParaRPr lang="en-US"/>
          </a:p>
        </p:txBody>
      </p:sp>
      <p:sp>
        <p:nvSpPr>
          <p:cNvPr id="7" name="original text"/>
          <p:cNvSpPr txBox="1"/>
          <p:nvPr/>
        </p:nvSpPr>
        <p:spPr>
          <a:xfrm>
            <a:off x="777240" y="2606040"/>
            <a:ext cx="4617720" cy="2240280"/>
          </a:xfrm>
          <a:prstGeom prst="rect">
            <a:avLst/>
          </a:prstGeom>
          <a:noFill/>
          <a:ln/>
        </p:spPr>
        <p:txBody>
          <a:bodyPr wrap="square" rtlCol="0" anchor="t"/>
          <a:lstStyle/>
          <a:p>
            <a:pPr marL="0" indent="0">
              <a:spcAft>
                <a:spcPts val="400"/>
              </a:spcAft>
              <a:buNone/>
            </a:pPr>
            <a:r>
              <a:rPr lang="en-US" sz="1800" b="1" dirty="0">
                <a:solidFill>
                  <a:schemeClr val="tx1"/>
                </a:solidFill>
              </a:rPr>
              <a:t>Original P  (JEE Adv. 2016)</a:t>
            </a:r>
            <a:endParaRPr lang="en-US" sz="1500" dirty="0"/>
          </a:p>
          <a:p>
            <a:pPr marL="0" indent="0">
              <a:spcAft>
                <a:spcPts val="400"/>
              </a:spcAft>
              <a:buNone/>
            </a:pPr>
            <a:r>
              <a:rPr lang="en-US" sz="1500" dirty="0">
                <a:solidFill>
                  <a:schemeClr val="tx2"/>
                </a:solidFill>
              </a:rPr>
              <a:t>−π/6 &lt; θ &lt; −π/12.  α₁ &gt; β₁ are roots of x² − 2x secθ + 1 = 0, α₂ &gt; β₂ of x² + 2x tanθ − 1 = 0. Find α₁ + β₂.</a:t>
            </a:r>
            <a:endParaRPr lang="en-US" sz="1500" dirty="0"/>
          </a:p>
          <a:p>
            <a:pPr marL="0" indent="0">
              <a:spcAft>
                <a:spcPts val="400"/>
              </a:spcAft>
              <a:buNone/>
            </a:pPr>
            <a:r>
              <a:rPr lang="en-US" sz="600" dirty="0">
                <a:solidFill>
                  <a:schemeClr val="tx2"/>
                </a:solidFill>
              </a:rPr>
              <a:t> </a:t>
            </a:r>
            <a:endParaRPr lang="en-US" sz="1500" dirty="0"/>
          </a:p>
          <a:p>
            <a:pPr marL="0" indent="0">
              <a:spcAft>
                <a:spcPts val="400"/>
              </a:spcAft>
              <a:buNone/>
            </a:pPr>
            <a:r>
              <a:rPr lang="en-US" sz="1500" b="1" dirty="0">
                <a:solidFill>
                  <a:schemeClr val="tx2"/>
                </a:solidFill>
              </a:rPr>
              <a:t>Strategy: </a:t>
            </a:r>
            <a:r>
              <a:rPr lang="en-US" sz="1500" dirty="0">
                <a:solidFill>
                  <a:schemeClr val="tx2"/>
                </a:solidFill>
              </a:rPr>
              <a:t>tanθ &lt; 0, so α₁ = secθ − tanθ, β₂ = −tanθ − secθ</a:t>
            </a:r>
            <a:endParaRPr lang="en-US" sz="1500" dirty="0"/>
          </a:p>
          <a:p>
            <a:pPr marL="0" indent="0">
              <a:spcAft>
                <a:spcPts val="400"/>
              </a:spcAft>
              <a:buNone/>
            </a:pPr>
            <a:r>
              <a:rPr lang="en-US" sz="1500" b="1" dirty="0">
                <a:solidFill>
                  <a:schemeClr val="tx2"/>
                </a:solidFill>
              </a:rPr>
              <a:t>Answer: </a:t>
            </a:r>
            <a:r>
              <a:rPr lang="en-US" sz="1500" b="1" dirty="0">
                <a:solidFill>
                  <a:schemeClr val="accent1"/>
                </a:solidFill>
              </a:rPr>
              <a:t>α₁ + β₂ = −2 tanθ  (C)</a:t>
            </a:r>
            <a:endParaRPr lang="en-US" sz="1500" dirty="0"/>
          </a:p>
        </p:txBody>
      </p:sp>
      <p:sp>
        <p:nvSpPr>
          <p:cNvPr id="8" name="perturbed text"/>
          <p:cNvSpPr txBox="1"/>
          <p:nvPr/>
        </p:nvSpPr>
        <p:spPr>
          <a:xfrm>
            <a:off x="6796735" y="2606040"/>
            <a:ext cx="4617720" cy="2240280"/>
          </a:xfrm>
          <a:prstGeom prst="rect">
            <a:avLst/>
          </a:prstGeom>
          <a:noFill/>
          <a:ln/>
        </p:spPr>
        <p:txBody>
          <a:bodyPr wrap="square" rtlCol="0" anchor="t"/>
          <a:lstStyle/>
          <a:p>
            <a:pPr marL="0" indent="0">
              <a:spcAft>
                <a:spcPts val="400"/>
              </a:spcAft>
              <a:buNone/>
            </a:pPr>
            <a:r>
              <a:rPr lang="en-US" sz="1800" b="1" dirty="0">
                <a:solidFill>
                  <a:schemeClr val="tx1"/>
                </a:solidFill>
              </a:rPr>
              <a:t>Perturbed P′</a:t>
            </a:r>
            <a:endParaRPr lang="en-US" sz="1500" dirty="0"/>
          </a:p>
          <a:p>
            <a:pPr marL="0" indent="0">
              <a:spcAft>
                <a:spcPts val="400"/>
              </a:spcAft>
              <a:buNone/>
            </a:pPr>
            <a:r>
              <a:rPr lang="en-US" sz="1500" dirty="0">
                <a:solidFill>
                  <a:schemeClr val="tx2"/>
                </a:solidFill>
              </a:rPr>
              <a:t>Same equations, but now π/12 &lt; θ &lt; π/6.</a:t>
            </a:r>
            <a:endParaRPr lang="en-US" sz="1500" dirty="0"/>
          </a:p>
          <a:p>
            <a:pPr marL="0" indent="0">
              <a:spcAft>
                <a:spcPts val="400"/>
              </a:spcAft>
              <a:buNone/>
            </a:pPr>
            <a:r>
              <a:rPr lang="en-US" sz="600" dirty="0">
                <a:solidFill>
                  <a:schemeClr val="tx2"/>
                </a:solidFill>
              </a:rPr>
              <a:t> </a:t>
            </a:r>
            <a:endParaRPr lang="en-US" sz="1500" dirty="0"/>
          </a:p>
          <a:p>
            <a:pPr marL="0" indent="0">
              <a:spcAft>
                <a:spcPts val="400"/>
              </a:spcAft>
              <a:buNone/>
            </a:pPr>
            <a:r>
              <a:rPr lang="en-US" sz="1500" b="1" dirty="0">
                <a:solidFill>
                  <a:schemeClr val="tx2"/>
                </a:solidFill>
              </a:rPr>
              <a:t>What breaks: </a:t>
            </a:r>
            <a:r>
              <a:rPr lang="en-US" sz="1500" dirty="0">
                <a:solidFill>
                  <a:schemeClr val="tx2"/>
                </a:solidFill>
              </a:rPr>
              <a:t>tanθ is now positive, so the larger root changes: α₁ = secθ + tanθ</a:t>
            </a:r>
            <a:endParaRPr lang="en-US" sz="1500" dirty="0"/>
          </a:p>
          <a:p>
            <a:pPr marL="0" indent="0">
              <a:spcAft>
                <a:spcPts val="400"/>
              </a:spcAft>
              <a:buNone/>
            </a:pPr>
            <a:r>
              <a:rPr lang="en-US" sz="1500" b="1" dirty="0">
                <a:solidFill>
                  <a:schemeClr val="tx2"/>
                </a:solidFill>
              </a:rPr>
              <a:t>Reusing the old strategy: </a:t>
            </a:r>
            <a:r>
              <a:rPr lang="en-US" sz="1500" dirty="0">
                <a:solidFill>
                  <a:schemeClr val="tx2"/>
                </a:solidFill>
              </a:rPr>
              <a:t>still answers (C), which is wrong</a:t>
            </a:r>
            <a:endParaRPr lang="en-US" sz="1500" dirty="0"/>
          </a:p>
          <a:p>
            <a:pPr marL="0" indent="0">
              <a:spcAft>
                <a:spcPts val="400"/>
              </a:spcAft>
              <a:buNone/>
            </a:pPr>
            <a:r>
              <a:rPr lang="en-US" sz="1500" b="1" dirty="0">
                <a:solidFill>
                  <a:schemeClr val="tx2"/>
                </a:solidFill>
              </a:rPr>
              <a:t>Correct answer: </a:t>
            </a:r>
            <a:r>
              <a:rPr lang="en-US" sz="1500" b="1" dirty="0">
                <a:solidFill>
                  <a:schemeClr val="accent2"/>
                </a:solidFill>
              </a:rPr>
              <a:t>α₁ + β₂ = 0  (D)</a:t>
            </a:r>
            <a:endParaRPr lang="en-US" sz="1500" dirty="0"/>
          </a:p>
        </p:txBody>
      </p:sp>
      <p:sp>
        <p:nvSpPr>
          <p:cNvPr id="9" name="example arrow"/>
          <p:cNvSpPr/>
          <p:nvPr/>
        </p:nvSpPr>
        <p:spPr>
          <a:xfrm>
            <a:off x="5733288" y="3726180"/>
            <a:ext cx="725119" cy="914"/>
          </a:xfrm>
          <a:prstGeom prst="line">
            <a:avLst/>
          </a:prstGeom>
          <a:noFill/>
          <a:ln w="19050">
            <a:solidFill>
              <a:srgbClr val="4A4A4A"/>
            </a:solidFill>
            <a:prstDash val="solid"/>
            <a:tailEnd type="triangle"/>
          </a:ln>
        </p:spPr>
        <p:txBody>
          <a:bodyPr/>
          <a:lstStyle/>
          <a:p>
            <a:endParaRPr lang="en-US"/>
          </a:p>
        </p:txBody>
      </p:sp>
      <p:sp>
        <p:nvSpPr>
          <p:cNvPr id="10" name="tldr"/>
          <p:cNvSpPr txBox="1"/>
          <p:nvPr/>
        </p:nvSpPr>
        <p:spPr>
          <a:xfrm>
            <a:off x="548640" y="5212080"/>
            <a:ext cx="11094415" cy="731520"/>
          </a:xfrm>
          <a:prstGeom prst="rect">
            <a:avLst/>
          </a:prstGeom>
          <a:noFill/>
          <a:ln/>
        </p:spPr>
        <p:txBody>
          <a:bodyPr wrap="square" rtlCol="0" anchor="ctr"/>
          <a:lstStyle/>
          <a:p>
            <a:pPr marL="0" indent="0">
              <a:buNone/>
            </a:pPr>
            <a:r>
              <a:rPr lang="en-US" sz="1700" b="1" dirty="0">
                <a:solidFill>
                  <a:schemeClr val="tx2"/>
                </a:solidFill>
              </a:rPr>
              <a:t>TLDR: the numbers barely change, but a sign condition the old strategy silently relied on is flipped. A model that pattern-matches gets it wrong.</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ESV Pipeline Structure</a:t>
            </a:r>
            <a:endParaRPr lang="en-US" sz="3600" dirty="0"/>
          </a:p>
        </p:txBody>
      </p:sp>
      <p:sp>
        <p:nvSpPr>
          <p:cNvPr id="3" name="flow Problem"/>
          <p:cNvSpPr/>
          <p:nvPr/>
        </p:nvSpPr>
        <p:spPr>
          <a:xfrm>
            <a:off x="548640" y="1325880"/>
            <a:ext cx="2377440" cy="685800"/>
          </a:xfrm>
          <a:prstGeom prst="roundRect">
            <a:avLst>
              <a:gd name="adj" fmla="val 1066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flow label Problem"/>
          <p:cNvSpPr txBox="1"/>
          <p:nvPr/>
        </p:nvSpPr>
        <p:spPr>
          <a:xfrm>
            <a:off x="548640" y="1325880"/>
            <a:ext cx="2377440" cy="685800"/>
          </a:xfrm>
          <a:prstGeom prst="rect">
            <a:avLst/>
          </a:prstGeom>
          <a:noFill/>
          <a:ln/>
        </p:spPr>
        <p:txBody>
          <a:bodyPr wrap="square" rtlCol="0" anchor="ctr"/>
          <a:lstStyle/>
          <a:p>
            <a:pPr marL="0" indent="0" algn="ctr">
              <a:buNone/>
            </a:pPr>
            <a:r>
              <a:rPr lang="en-US" sz="1600" b="1" dirty="0">
                <a:solidFill>
                  <a:schemeClr val="tx1"/>
                </a:solidFill>
              </a:rPr>
              <a:t>Problem</a:t>
            </a:r>
            <a:endParaRPr lang="en-US" sz="1600" dirty="0"/>
          </a:p>
        </p:txBody>
      </p:sp>
      <p:sp>
        <p:nvSpPr>
          <p:cNvPr id="5" name="flow arrow 0"/>
          <p:cNvSpPr/>
          <p:nvPr/>
        </p:nvSpPr>
        <p:spPr>
          <a:xfrm>
            <a:off x="2971800" y="1668780"/>
            <a:ext cx="365760" cy="914"/>
          </a:xfrm>
          <a:prstGeom prst="line">
            <a:avLst/>
          </a:prstGeom>
          <a:noFill/>
          <a:ln w="19050">
            <a:solidFill>
              <a:srgbClr val="4A4A4A"/>
            </a:solidFill>
            <a:prstDash val="solid"/>
            <a:tailEnd type="triangle"/>
          </a:ln>
        </p:spPr>
        <p:txBody>
          <a:bodyPr/>
          <a:lstStyle/>
          <a:p>
            <a:endParaRPr lang="en-US"/>
          </a:p>
        </p:txBody>
      </p:sp>
      <p:sp>
        <p:nvSpPr>
          <p:cNvPr id="6" name="flow Initial solve"/>
          <p:cNvSpPr/>
          <p:nvPr/>
        </p:nvSpPr>
        <p:spPr>
          <a:xfrm>
            <a:off x="3383280" y="1325880"/>
            <a:ext cx="2377440" cy="685800"/>
          </a:xfrm>
          <a:prstGeom prst="roundRect">
            <a:avLst>
              <a:gd name="adj" fmla="val 1066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7" name="flow label Initial solve"/>
          <p:cNvSpPr txBox="1"/>
          <p:nvPr/>
        </p:nvSpPr>
        <p:spPr>
          <a:xfrm>
            <a:off x="3383280" y="1325880"/>
            <a:ext cx="2377440" cy="685800"/>
          </a:xfrm>
          <a:prstGeom prst="rect">
            <a:avLst/>
          </a:prstGeom>
          <a:noFill/>
          <a:ln/>
        </p:spPr>
        <p:txBody>
          <a:bodyPr wrap="square" rtlCol="0" anchor="ctr"/>
          <a:lstStyle/>
          <a:p>
            <a:pPr marL="0" indent="0" algn="ctr">
              <a:buNone/>
            </a:pPr>
            <a:r>
              <a:rPr lang="en-US" sz="1600" b="1" dirty="0">
                <a:solidFill>
                  <a:schemeClr val="tx1"/>
                </a:solidFill>
              </a:rPr>
              <a:t>Initial solve</a:t>
            </a:r>
            <a:endParaRPr lang="en-US" sz="1600" dirty="0"/>
          </a:p>
        </p:txBody>
      </p:sp>
      <p:sp>
        <p:nvSpPr>
          <p:cNvPr id="8" name="flow arrow 1"/>
          <p:cNvSpPr/>
          <p:nvPr/>
        </p:nvSpPr>
        <p:spPr>
          <a:xfrm>
            <a:off x="5806440" y="1668780"/>
            <a:ext cx="365760" cy="914"/>
          </a:xfrm>
          <a:prstGeom prst="line">
            <a:avLst/>
          </a:prstGeom>
          <a:noFill/>
          <a:ln w="19050">
            <a:solidFill>
              <a:srgbClr val="4A4A4A"/>
            </a:solidFill>
            <a:prstDash val="solid"/>
            <a:tailEnd type="triangle"/>
          </a:ln>
        </p:spPr>
        <p:txBody>
          <a:bodyPr/>
          <a:lstStyle/>
          <a:p>
            <a:endParaRPr lang="en-US"/>
          </a:p>
        </p:txBody>
      </p:sp>
      <p:sp>
        <p:nvSpPr>
          <p:cNvPr id="9" name="flow Answer correct?"/>
          <p:cNvSpPr/>
          <p:nvPr/>
        </p:nvSpPr>
        <p:spPr>
          <a:xfrm>
            <a:off x="6217920" y="1325880"/>
            <a:ext cx="2377440" cy="685800"/>
          </a:xfrm>
          <a:prstGeom prst="roundRect">
            <a:avLst>
              <a:gd name="adj" fmla="val 10667"/>
            </a:avLst>
          </a:prstGeom>
          <a:solidFill>
            <a:schemeClr val="accent6"/>
          </a:solidFill>
          <a:ln w="12700">
            <a:solidFill>
              <a:schemeClr val="accent6"/>
            </a:solidFill>
            <a:prstDash val="solid"/>
          </a:ln>
          <a:effectLst>
            <a:outerShdw blurRad="76200" dist="25400" dir="5400000" algn="bl" rotWithShape="0">
              <a:srgbClr val="000000">
                <a:alpha val="12000"/>
              </a:srgbClr>
            </a:outerShdw>
          </a:effectLst>
        </p:spPr>
        <p:txBody>
          <a:bodyPr/>
          <a:lstStyle/>
          <a:p>
            <a:endParaRPr lang="en-US"/>
          </a:p>
        </p:txBody>
      </p:sp>
      <p:sp>
        <p:nvSpPr>
          <p:cNvPr id="10" name="flow label Answer correct?"/>
          <p:cNvSpPr txBox="1"/>
          <p:nvPr/>
        </p:nvSpPr>
        <p:spPr>
          <a:xfrm>
            <a:off x="6217920" y="1325880"/>
            <a:ext cx="2377440" cy="685800"/>
          </a:xfrm>
          <a:prstGeom prst="rect">
            <a:avLst/>
          </a:prstGeom>
          <a:noFill/>
          <a:ln/>
        </p:spPr>
        <p:txBody>
          <a:bodyPr wrap="square" rtlCol="0" anchor="ctr"/>
          <a:lstStyle/>
          <a:p>
            <a:pPr marL="0" indent="0" algn="ctr">
              <a:buNone/>
            </a:pPr>
            <a:r>
              <a:rPr lang="en-US" sz="1600" b="1" dirty="0">
                <a:solidFill>
                  <a:schemeClr val="tx1"/>
                </a:solidFill>
              </a:rPr>
              <a:t>Answer correct?</a:t>
            </a:r>
            <a:endParaRPr lang="en-US" sz="1600" dirty="0"/>
          </a:p>
        </p:txBody>
      </p:sp>
      <p:sp>
        <p:nvSpPr>
          <p:cNvPr id="11" name="flow arrow 2"/>
          <p:cNvSpPr/>
          <p:nvPr/>
        </p:nvSpPr>
        <p:spPr>
          <a:xfrm>
            <a:off x="8641080" y="1668780"/>
            <a:ext cx="365760" cy="914"/>
          </a:xfrm>
          <a:prstGeom prst="line">
            <a:avLst/>
          </a:prstGeom>
          <a:noFill/>
          <a:ln w="19050">
            <a:solidFill>
              <a:srgbClr val="4A4A4A"/>
            </a:solidFill>
            <a:prstDash val="solid"/>
            <a:tailEnd type="triangle"/>
          </a:ln>
        </p:spPr>
        <p:txBody>
          <a:bodyPr/>
          <a:lstStyle/>
          <a:p>
            <a:endParaRPr lang="en-US"/>
          </a:p>
        </p:txBody>
      </p:sp>
      <p:sp>
        <p:nvSpPr>
          <p:cNvPr id="12" name="flow Done: no ESV needed"/>
          <p:cNvSpPr/>
          <p:nvPr/>
        </p:nvSpPr>
        <p:spPr>
          <a:xfrm>
            <a:off x="9052560" y="1325880"/>
            <a:ext cx="2377440" cy="685800"/>
          </a:xfrm>
          <a:prstGeom prst="roundRect">
            <a:avLst>
              <a:gd name="adj" fmla="val 1066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13" name="flow label Done: no ESV needed"/>
          <p:cNvSpPr txBox="1"/>
          <p:nvPr/>
        </p:nvSpPr>
        <p:spPr>
          <a:xfrm>
            <a:off x="9052560" y="1325880"/>
            <a:ext cx="2377440" cy="685800"/>
          </a:xfrm>
          <a:prstGeom prst="rect">
            <a:avLst/>
          </a:prstGeom>
          <a:noFill/>
          <a:ln/>
        </p:spPr>
        <p:txBody>
          <a:bodyPr wrap="square" rtlCol="0" anchor="ctr"/>
          <a:lstStyle/>
          <a:p>
            <a:pPr marL="0" indent="0" algn="ctr">
              <a:buNone/>
            </a:pPr>
            <a:r>
              <a:rPr lang="en-US" sz="1600" b="1" dirty="0">
                <a:solidFill>
                  <a:schemeClr val="tx1"/>
                </a:solidFill>
              </a:rPr>
              <a:t>Done: no ESV needed</a:t>
            </a:r>
            <a:endParaRPr lang="en-US" sz="1600" dirty="0"/>
          </a:p>
        </p:txBody>
      </p:sp>
      <p:sp>
        <p:nvSpPr>
          <p:cNvPr id="14" name="yes label"/>
          <p:cNvSpPr txBox="1"/>
          <p:nvPr/>
        </p:nvSpPr>
        <p:spPr>
          <a:xfrm>
            <a:off x="8668512" y="1344168"/>
            <a:ext cx="457200" cy="274320"/>
          </a:xfrm>
          <a:prstGeom prst="rect">
            <a:avLst/>
          </a:prstGeom>
          <a:noFill/>
          <a:ln/>
        </p:spPr>
        <p:txBody>
          <a:bodyPr wrap="square" lIns="0" tIns="0" rIns="0" bIns="0" rtlCol="0" anchor="ctr"/>
          <a:lstStyle/>
          <a:p>
            <a:pPr marL="0" indent="0">
              <a:buNone/>
            </a:pPr>
            <a:r>
              <a:rPr lang="en-US" sz="1200" dirty="0">
                <a:solidFill>
                  <a:schemeClr val="tx2"/>
                </a:solidFill>
              </a:rPr>
              <a:t>yes</a:t>
            </a:r>
            <a:endParaRPr lang="en-US" sz="1200" dirty="0"/>
          </a:p>
        </p:txBody>
      </p:sp>
      <p:sp>
        <p:nvSpPr>
          <p:cNvPr id="15" name="no arrow"/>
          <p:cNvSpPr/>
          <p:nvPr/>
        </p:nvSpPr>
        <p:spPr>
          <a:xfrm>
            <a:off x="7406640" y="2057400"/>
            <a:ext cx="914" cy="457200"/>
          </a:xfrm>
          <a:prstGeom prst="line">
            <a:avLst/>
          </a:prstGeom>
          <a:noFill/>
          <a:ln w="19050">
            <a:solidFill>
              <a:srgbClr val="4A4A4A"/>
            </a:solidFill>
            <a:prstDash val="solid"/>
            <a:tailEnd type="triangle"/>
          </a:ln>
        </p:spPr>
        <p:txBody>
          <a:bodyPr/>
          <a:lstStyle/>
          <a:p>
            <a:endParaRPr lang="en-US"/>
          </a:p>
        </p:txBody>
      </p:sp>
      <p:sp>
        <p:nvSpPr>
          <p:cNvPr id="16" name="no label"/>
          <p:cNvSpPr txBox="1"/>
          <p:nvPr/>
        </p:nvSpPr>
        <p:spPr>
          <a:xfrm>
            <a:off x="7498080" y="2103120"/>
            <a:ext cx="2743200" cy="365760"/>
          </a:xfrm>
          <a:prstGeom prst="rect">
            <a:avLst/>
          </a:prstGeom>
          <a:noFill/>
          <a:ln/>
        </p:spPr>
        <p:txBody>
          <a:bodyPr wrap="square" lIns="0" tIns="0" rIns="0" bIns="0" rtlCol="0" anchor="ctr"/>
          <a:lstStyle/>
          <a:p>
            <a:pPr marL="0" indent="0">
              <a:buNone/>
            </a:pPr>
            <a:r>
              <a:rPr lang="en-US" sz="1200" dirty="0">
                <a:solidFill>
                  <a:schemeClr val="tx2"/>
                </a:solidFill>
              </a:rPr>
              <a:t>no: genuine failure → ESV</a:t>
            </a:r>
            <a:endParaRPr lang="en-US" sz="1200" dirty="0"/>
          </a:p>
        </p:txBody>
      </p:sp>
      <p:sp>
        <p:nvSpPr>
          <p:cNvPr id="17" name="stage 1"/>
          <p:cNvSpPr/>
          <p:nvPr/>
        </p:nvSpPr>
        <p:spPr>
          <a:xfrm>
            <a:off x="548640"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18" name="badge 1"/>
          <p:cNvSpPr/>
          <p:nvPr/>
        </p:nvSpPr>
        <p:spPr>
          <a:xfrm>
            <a:off x="685800"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9" name="badge 1 label"/>
          <p:cNvSpPr txBox="1"/>
          <p:nvPr/>
        </p:nvSpPr>
        <p:spPr>
          <a:xfrm>
            <a:off x="685800"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20" name="stage 1 title"/>
          <p:cNvSpPr txBox="1"/>
          <p:nvPr/>
        </p:nvSpPr>
        <p:spPr>
          <a:xfrm>
            <a:off x="1097280"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Recognition</a:t>
            </a:r>
            <a:endParaRPr lang="en-US" sz="1600" dirty="0"/>
          </a:p>
        </p:txBody>
      </p:sp>
      <p:sp>
        <p:nvSpPr>
          <p:cNvPr id="21" name="stage 1 body"/>
          <p:cNvSpPr txBox="1"/>
          <p:nvPr/>
        </p:nvSpPr>
        <p:spPr>
          <a:xfrm>
            <a:off x="685800"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Blind: re-solve independently and check every condition the strategy relies on. Did it fail?</a:t>
            </a:r>
            <a:endParaRPr lang="en-US" sz="1400" dirty="0"/>
          </a:p>
        </p:txBody>
      </p:sp>
      <p:sp>
        <p:nvSpPr>
          <p:cNvPr id="22" name="stage 2"/>
          <p:cNvSpPr/>
          <p:nvPr/>
        </p:nvSpPr>
        <p:spPr>
          <a:xfrm>
            <a:off x="2798064"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23" name="badge 2"/>
          <p:cNvSpPr/>
          <p:nvPr/>
        </p:nvSpPr>
        <p:spPr>
          <a:xfrm>
            <a:off x="2935224"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4" name="badge 2 label"/>
          <p:cNvSpPr txBox="1"/>
          <p:nvPr/>
        </p:nvSpPr>
        <p:spPr>
          <a:xfrm>
            <a:off x="2935224"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5" name="stage 2 title"/>
          <p:cNvSpPr txBox="1"/>
          <p:nvPr/>
        </p:nvSpPr>
        <p:spPr>
          <a:xfrm>
            <a:off x="3346704"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Diagnosis</a:t>
            </a:r>
            <a:endParaRPr lang="en-US" sz="1600" dirty="0"/>
          </a:p>
        </p:txBody>
      </p:sp>
      <p:sp>
        <p:nvSpPr>
          <p:cNvPr id="26" name="stage 2 body"/>
          <p:cNvSpPr txBox="1"/>
          <p:nvPr/>
        </p:nvSpPr>
        <p:spPr>
          <a:xfrm>
            <a:off x="2935224"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Find the failed step and the problem condition it conflicts with.</a:t>
            </a:r>
            <a:endParaRPr lang="en-US" sz="1400" dirty="0"/>
          </a:p>
        </p:txBody>
      </p:sp>
      <p:sp>
        <p:nvSpPr>
          <p:cNvPr id="27" name="stage 3"/>
          <p:cNvSpPr/>
          <p:nvPr/>
        </p:nvSpPr>
        <p:spPr>
          <a:xfrm>
            <a:off x="5047488"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28" name="badge 3"/>
          <p:cNvSpPr/>
          <p:nvPr/>
        </p:nvSpPr>
        <p:spPr>
          <a:xfrm>
            <a:off x="5184648"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9" name="badge 3 label"/>
          <p:cNvSpPr txBox="1"/>
          <p:nvPr/>
        </p:nvSpPr>
        <p:spPr>
          <a:xfrm>
            <a:off x="5184648"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30" name="stage 3 title"/>
          <p:cNvSpPr txBox="1"/>
          <p:nvPr/>
        </p:nvSpPr>
        <p:spPr>
          <a:xfrm>
            <a:off x="5596128"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Alternative strategy</a:t>
            </a:r>
            <a:endParaRPr lang="en-US" sz="1600" dirty="0"/>
          </a:p>
        </p:txBody>
      </p:sp>
      <p:sp>
        <p:nvSpPr>
          <p:cNvPr id="31" name="stage 3 body"/>
          <p:cNvSpPr txBox="1"/>
          <p:nvPr/>
        </p:nvSpPr>
        <p:spPr>
          <a:xfrm>
            <a:off x="5184648"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Propose 3 different methods, verify each one's preconditions, keep the best plus a backup.</a:t>
            </a:r>
            <a:endParaRPr lang="en-US" sz="1400" dirty="0"/>
          </a:p>
        </p:txBody>
      </p:sp>
      <p:sp>
        <p:nvSpPr>
          <p:cNvPr id="32" name="stage 4"/>
          <p:cNvSpPr/>
          <p:nvPr/>
        </p:nvSpPr>
        <p:spPr>
          <a:xfrm>
            <a:off x="7296912"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33" name="badge 4"/>
          <p:cNvSpPr/>
          <p:nvPr/>
        </p:nvSpPr>
        <p:spPr>
          <a:xfrm>
            <a:off x="7434072"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34" name="badge 4 label"/>
          <p:cNvSpPr txBox="1"/>
          <p:nvPr/>
        </p:nvSpPr>
        <p:spPr>
          <a:xfrm>
            <a:off x="7434072"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5" name="stage 4 title"/>
          <p:cNvSpPr txBox="1"/>
          <p:nvPr/>
        </p:nvSpPr>
        <p:spPr>
          <a:xfrm>
            <a:off x="7845552"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Recovery</a:t>
            </a:r>
            <a:endParaRPr lang="en-US" sz="1600" dirty="0"/>
          </a:p>
        </p:txBody>
      </p:sp>
      <p:sp>
        <p:nvSpPr>
          <p:cNvPr id="36" name="stage 4 body"/>
          <p:cNvSpPr txBox="1"/>
          <p:nvPr/>
        </p:nvSpPr>
        <p:spPr>
          <a:xfrm>
            <a:off x="7434072"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Solve afresh with the verified strategy, without seeing the failed reasoning.</a:t>
            </a:r>
            <a:endParaRPr lang="en-US" sz="1400" dirty="0"/>
          </a:p>
        </p:txBody>
      </p:sp>
      <p:sp>
        <p:nvSpPr>
          <p:cNvPr id="37" name="stage 5"/>
          <p:cNvSpPr/>
          <p:nvPr/>
        </p:nvSpPr>
        <p:spPr>
          <a:xfrm>
            <a:off x="9546336"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38" name="badge 5"/>
          <p:cNvSpPr/>
          <p:nvPr/>
        </p:nvSpPr>
        <p:spPr>
          <a:xfrm>
            <a:off x="9683496"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39" name="badge 5 label"/>
          <p:cNvSpPr txBox="1"/>
          <p:nvPr/>
        </p:nvSpPr>
        <p:spPr>
          <a:xfrm>
            <a:off x="9683496"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40" name="stage 5 title"/>
          <p:cNvSpPr txBox="1"/>
          <p:nvPr/>
        </p:nvSpPr>
        <p:spPr>
          <a:xfrm>
            <a:off x="10094976"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Final answer</a:t>
            </a:r>
            <a:endParaRPr lang="en-US" sz="1600" dirty="0"/>
          </a:p>
        </p:txBody>
      </p:sp>
      <p:sp>
        <p:nvSpPr>
          <p:cNvPr id="41" name="stage 5 body"/>
          <p:cNvSpPr txBox="1"/>
          <p:nvPr/>
        </p:nvSpPr>
        <p:spPr>
          <a:xfrm>
            <a:off x="9683496"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Cross-check with the backup strategy; adjudicate if the two answers disagree.</a:t>
            </a:r>
            <a:endParaRPr lang="en-US" sz="1400" dirty="0"/>
          </a:p>
        </p:txBody>
      </p:sp>
      <p:sp>
        <p:nvSpPr>
          <p:cNvPr id="42" name="judge note"/>
          <p:cNvSpPr/>
          <p:nvPr/>
        </p:nvSpPr>
        <p:spPr>
          <a:xfrm>
            <a:off x="548640" y="5120640"/>
            <a:ext cx="11094415" cy="868680"/>
          </a:xfrm>
          <a:prstGeom prst="roundRect">
            <a:avLst>
              <a:gd name="adj" fmla="val 8421"/>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3" name="judge note text"/>
          <p:cNvSpPr txBox="1"/>
          <p:nvPr/>
        </p:nvSpPr>
        <p:spPr>
          <a:xfrm>
            <a:off x="777240" y="5120640"/>
            <a:ext cx="10637215" cy="868680"/>
          </a:xfrm>
          <a:prstGeom prst="rect">
            <a:avLst/>
          </a:prstGeom>
          <a:noFill/>
          <a:ln/>
        </p:spPr>
        <p:txBody>
          <a:bodyPr wrap="square" rtlCol="0" anchor="ctr"/>
          <a:lstStyle/>
          <a:p>
            <a:pPr marL="0" indent="0">
              <a:buNone/>
            </a:pPr>
            <a:r>
              <a:rPr lang="en-US" sz="1500" b="1" dirty="0">
                <a:solidFill>
                  <a:schemeClr val="tx1"/>
                </a:solidFill>
              </a:rPr>
              <a:t>Evaluation: </a:t>
            </a:r>
            <a:r>
              <a:rPr lang="en-US" sz="1500" dirty="0">
                <a:solidFill>
                  <a:schemeClr val="tx2"/>
                </a:solidFill>
              </a:rPr>
              <a:t>answers are scored against the frozen gold answers; an independent judge (GPT-OSS-120B) grades diagnosis and strategy using the gold answer and the perturbation annotation. The solver never sees either.</a:t>
            </a:r>
            <a:endParaRPr lang="en-US" sz="1500" dirty="0"/>
          </a:p>
        </p:txBody>
      </p:sp>
      <p:sp>
        <p:nvSpPr>
          <p:cNvPr id="44"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Pilot Experiment</a:t>
            </a:r>
            <a:endParaRPr lang="en-US" sz="3600" dirty="0"/>
          </a:p>
        </p:txBody>
      </p:sp>
      <p:sp>
        <p:nvSpPr>
          <p:cNvPr id="3" name="experiment summary"/>
          <p:cNvSpPr txBox="1"/>
          <p:nvPr/>
        </p:nvSpPr>
        <p:spPr>
          <a:xfrm>
            <a:off x="548640" y="1325880"/>
            <a:ext cx="4160520" cy="4754880"/>
          </a:xfrm>
          <a:prstGeom prst="rect">
            <a:avLst/>
          </a:prstGeom>
          <a:noFill/>
          <a:ln/>
        </p:spPr>
        <p:txBody>
          <a:bodyPr wrap="square" rtlCol="0" anchor="t"/>
          <a:lstStyle/>
          <a:p>
            <a:pPr marL="0" indent="0">
              <a:buNone/>
            </a:pPr>
            <a:r>
              <a:rPr lang="en-US" sz="1800" dirty="0">
                <a:solidFill>
                  <a:schemeClr val="tx2"/>
                </a:solidFill>
              </a:rPr>
              <a:t>For our pilot we ran the full ESV pipeline on our 16 frozen JEEBench math pairs: 32 instances. The solver answers each instance once; every wrong answer is sent through all five ESV stages, so every stage is measured on every failure. We built the pipeline in three iterations and report the final one.</a:t>
            </a:r>
            <a:endParaRPr lang="en-US" sz="1800" dirty="0"/>
          </a:p>
        </p:txBody>
      </p:sp>
      <p:sp>
        <p:nvSpPr>
          <p:cNvPr id="4" name="badge 1"/>
          <p:cNvSpPr/>
          <p:nvPr/>
        </p:nvSpPr>
        <p:spPr>
          <a:xfrm>
            <a:off x="4983480" y="13624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5" name="badge 1 label"/>
          <p:cNvSpPr txBox="1"/>
          <p:nvPr/>
        </p:nvSpPr>
        <p:spPr>
          <a:xfrm>
            <a:off x="4983480" y="13624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setup Dataset"/>
          <p:cNvSpPr txBox="1"/>
          <p:nvPr/>
        </p:nvSpPr>
        <p:spPr>
          <a:xfrm>
            <a:off x="5440680" y="1417320"/>
            <a:ext cx="6199632" cy="640080"/>
          </a:xfrm>
          <a:prstGeom prst="rect">
            <a:avLst/>
          </a:prstGeom>
          <a:noFill/>
          <a:ln/>
        </p:spPr>
        <p:txBody>
          <a:bodyPr wrap="square" lIns="0" tIns="0" rIns="0" bIns="0" rtlCol="0" anchor="t"/>
          <a:lstStyle/>
          <a:p>
            <a:pPr marL="0" indent="0">
              <a:buNone/>
            </a:pPr>
            <a:r>
              <a:rPr lang="en-US" sz="1500" b="1" dirty="0">
                <a:solidFill>
                  <a:schemeClr val="tx1"/>
                </a:solidFill>
              </a:rPr>
              <a:t>Dataset: </a:t>
            </a:r>
            <a:r>
              <a:rPr lang="en-US" sz="1500" dirty="0">
                <a:solidFill>
                  <a:schemeClr val="tx2"/>
                </a:solidFill>
              </a:rPr>
              <a:t>16 original/perturbed pairs (32 instances) from JEE Advanced 2016</a:t>
            </a:r>
            <a:endParaRPr lang="en-US" sz="1500" dirty="0"/>
          </a:p>
        </p:txBody>
      </p:sp>
      <p:sp>
        <p:nvSpPr>
          <p:cNvPr id="7" name="badge 2"/>
          <p:cNvSpPr/>
          <p:nvPr/>
        </p:nvSpPr>
        <p:spPr>
          <a:xfrm>
            <a:off x="4983480" y="20482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8" name="badge 2 label"/>
          <p:cNvSpPr txBox="1"/>
          <p:nvPr/>
        </p:nvSpPr>
        <p:spPr>
          <a:xfrm>
            <a:off x="4983480" y="20482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setup Solver"/>
          <p:cNvSpPr txBox="1"/>
          <p:nvPr/>
        </p:nvSpPr>
        <p:spPr>
          <a:xfrm>
            <a:off x="5440680" y="20116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Solver: </a:t>
            </a:r>
            <a:r>
              <a:rPr lang="en-US" sz="1500" dirty="0">
                <a:solidFill>
                  <a:schemeClr val="tx2"/>
                </a:solidFill>
              </a:rPr>
              <a:t>Qwen 2.5 7B Instruct, chosen by screening: DeepSeek V4 Flash solved 97%, leaving nothing to recover</a:t>
            </a:r>
            <a:endParaRPr lang="en-US" sz="1500" dirty="0"/>
          </a:p>
        </p:txBody>
      </p:sp>
      <p:sp>
        <p:nvSpPr>
          <p:cNvPr id="10" name="badge 3"/>
          <p:cNvSpPr/>
          <p:nvPr/>
        </p:nvSpPr>
        <p:spPr>
          <a:xfrm>
            <a:off x="4983480" y="27340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1" name="badge 3 label"/>
          <p:cNvSpPr txBox="1"/>
          <p:nvPr/>
        </p:nvSpPr>
        <p:spPr>
          <a:xfrm>
            <a:off x="4983480" y="27340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setup Judge"/>
          <p:cNvSpPr txBox="1"/>
          <p:nvPr/>
        </p:nvSpPr>
        <p:spPr>
          <a:xfrm>
            <a:off x="5440680" y="26974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Judge: </a:t>
            </a:r>
            <a:r>
              <a:rPr lang="en-US" sz="1500" dirty="0">
                <a:solidFill>
                  <a:schemeClr val="tx2"/>
                </a:solidFill>
              </a:rPr>
              <a:t>GPT-OSS-120B, a different model family; grades diagnosis and alternative strategy</a:t>
            </a:r>
            <a:endParaRPr lang="en-US" sz="1500" dirty="0"/>
          </a:p>
        </p:txBody>
      </p:sp>
      <p:sp>
        <p:nvSpPr>
          <p:cNvPr id="13" name="badge 4"/>
          <p:cNvSpPr/>
          <p:nvPr/>
        </p:nvSpPr>
        <p:spPr>
          <a:xfrm>
            <a:off x="4983480" y="34198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4" name="badge 4 label"/>
          <p:cNvSpPr txBox="1"/>
          <p:nvPr/>
        </p:nvSpPr>
        <p:spPr>
          <a:xfrm>
            <a:off x="4983480" y="34198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5" name="setup Scoring"/>
          <p:cNvSpPr txBox="1"/>
          <p:nvPr/>
        </p:nvSpPr>
        <p:spPr>
          <a:xfrm>
            <a:off x="5440680" y="33832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Scoring: </a:t>
            </a:r>
            <a:r>
              <a:rPr lang="en-US" sz="1500" dirty="0">
                <a:solidFill>
                  <a:schemeClr val="tx2"/>
                </a:solidFill>
              </a:rPr>
              <a:t>Deterministic: option letters and numbers normalized, then compared with the gold answer</a:t>
            </a:r>
            <a:endParaRPr lang="en-US" sz="1500" dirty="0"/>
          </a:p>
        </p:txBody>
      </p:sp>
      <p:sp>
        <p:nvSpPr>
          <p:cNvPr id="16" name="badge 5"/>
          <p:cNvSpPr/>
          <p:nvPr/>
        </p:nvSpPr>
        <p:spPr>
          <a:xfrm>
            <a:off x="4983480" y="41056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7" name="badge 5 label"/>
          <p:cNvSpPr txBox="1"/>
          <p:nvPr/>
        </p:nvSpPr>
        <p:spPr>
          <a:xfrm>
            <a:off x="4983480" y="41056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8" name="setup Blindness"/>
          <p:cNvSpPr txBox="1"/>
          <p:nvPr/>
        </p:nvSpPr>
        <p:spPr>
          <a:xfrm>
            <a:off x="5440680" y="40690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Blindness: </a:t>
            </a:r>
            <a:r>
              <a:rPr lang="en-US" sz="1500" dirty="0">
                <a:solidFill>
                  <a:schemeClr val="tx2"/>
                </a:solidFill>
              </a:rPr>
              <a:t>Recognition is blind; later stages know the first answer was wrong, never the correct one</a:t>
            </a:r>
            <a:endParaRPr lang="en-US" sz="1500" dirty="0"/>
          </a:p>
        </p:txBody>
      </p:sp>
      <p:sp>
        <p:nvSpPr>
          <p:cNvPr id="19" name="badge 6"/>
          <p:cNvSpPr/>
          <p:nvPr/>
        </p:nvSpPr>
        <p:spPr>
          <a:xfrm>
            <a:off x="4983480" y="47914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20" name="badge 6 label"/>
          <p:cNvSpPr txBox="1"/>
          <p:nvPr/>
        </p:nvSpPr>
        <p:spPr>
          <a:xfrm>
            <a:off x="4983480" y="47914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1" name="setup Iterations"/>
          <p:cNvSpPr txBox="1"/>
          <p:nvPr/>
        </p:nvSpPr>
        <p:spPr>
          <a:xfrm>
            <a:off x="5440680" y="47548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Iterations: </a:t>
            </a:r>
            <a:r>
              <a:rPr lang="en-US" sz="1500" dirty="0">
                <a:solidFill>
                  <a:schemeClr val="tx2"/>
                </a:solidFill>
              </a:rPr>
              <a:t>v2: one gated pass · v3: five stages on every failure · v4: strengthened verification</a:t>
            </a:r>
            <a:endParaRPr lang="en-US" sz="1500" dirty="0"/>
          </a:p>
        </p:txBody>
      </p:sp>
      <p:sp>
        <p:nvSpPr>
          <p:cNvPr id="22" name="badge 7"/>
          <p:cNvSpPr/>
          <p:nvPr/>
        </p:nvSpPr>
        <p:spPr>
          <a:xfrm>
            <a:off x="4983480" y="54772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23" name="badge 7 label"/>
          <p:cNvSpPr txBox="1"/>
          <p:nvPr/>
        </p:nvSpPr>
        <p:spPr>
          <a:xfrm>
            <a:off x="4983480" y="54772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24" name="setup Baselines"/>
          <p:cNvSpPr txBox="1"/>
          <p:nvPr/>
        </p:nvSpPr>
        <p:spPr>
          <a:xfrm>
            <a:off x="5440680" y="54406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Baselines: </a:t>
            </a:r>
            <a:r>
              <a:rPr lang="en-US" sz="1500" dirty="0">
                <a:solidFill>
                  <a:schemeClr val="tx2"/>
                </a:solidFill>
              </a:rPr>
              <a:t>Direct QA and CoT re-run on the same 32 instances with ESV’s model, settings and scorer</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Mini Experiment Figure</a:t>
            </a:r>
            <a:endParaRPr lang="en-US" sz="3600" dirty="0"/>
          </a:p>
        </p:txBody>
      </p:sp>
      <p:sp>
        <p:nvSpPr>
          <p:cNvPr id="3" name="panel 1"/>
          <p:cNvSpPr/>
          <p:nvPr/>
        </p:nvSpPr>
        <p:spPr>
          <a:xfrm>
            <a:off x="548640" y="1280160"/>
            <a:ext cx="2606040" cy="2606040"/>
          </a:xfrm>
          <a:prstGeom prst="roundRect">
            <a:avLst>
              <a:gd name="adj" fmla="val 280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badge 1"/>
          <p:cNvSpPr/>
          <p:nvPr/>
        </p:nvSpPr>
        <p:spPr>
          <a:xfrm>
            <a:off x="685800" y="141732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5" name="badge 1 label"/>
          <p:cNvSpPr txBox="1"/>
          <p:nvPr/>
        </p:nvSpPr>
        <p:spPr>
          <a:xfrm>
            <a:off x="685800" y="141732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panel 1 title"/>
          <p:cNvSpPr txBox="1"/>
          <p:nvPr/>
        </p:nvSpPr>
        <p:spPr>
          <a:xfrm>
            <a:off x="1115568" y="1417320"/>
            <a:ext cx="1947672" cy="365760"/>
          </a:xfrm>
          <a:prstGeom prst="rect">
            <a:avLst/>
          </a:prstGeom>
          <a:noFill/>
          <a:ln/>
        </p:spPr>
        <p:txBody>
          <a:bodyPr wrap="square" lIns="0" tIns="0" rIns="0" bIns="0" rtlCol="0" anchor="ctr"/>
          <a:lstStyle/>
          <a:p>
            <a:pPr marL="0" indent="0">
              <a:buNone/>
            </a:pPr>
            <a:r>
              <a:rPr lang="en-US" sz="1500" b="1" dirty="0">
                <a:solidFill>
                  <a:schemeClr val="tx1"/>
                </a:solidFill>
              </a:rPr>
              <a:t>The test cases</a:t>
            </a:r>
            <a:endParaRPr lang="en-US" sz="1500" dirty="0"/>
          </a:p>
        </p:txBody>
      </p:sp>
      <p:sp>
        <p:nvSpPr>
          <p:cNvPr id="7" name="panel 1 body"/>
          <p:cNvSpPr txBox="1"/>
          <p:nvPr/>
        </p:nvSpPr>
        <p:spPr>
          <a:xfrm>
            <a:off x="731520" y="1965960"/>
            <a:ext cx="2240280" cy="178308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16 frozen pairs</a:t>
            </a:r>
            <a:endParaRPr lang="en-US" sz="1500" dirty="0"/>
          </a:p>
          <a:p>
            <a:pPr marL="0" indent="0">
              <a:spcAft>
                <a:spcPts val="600"/>
              </a:spcAft>
              <a:buNone/>
            </a:pPr>
            <a:r>
              <a:rPr lang="en-US" sz="1500" dirty="0">
                <a:solidFill>
                  <a:schemeClr val="tx2"/>
                </a:solidFill>
              </a:rPr>
              <a:t>→ 32 instances</a:t>
            </a:r>
            <a:endParaRPr lang="en-US" sz="1500" dirty="0"/>
          </a:p>
          <a:p>
            <a:pPr marL="0" indent="0">
              <a:spcAft>
                <a:spcPts val="600"/>
              </a:spcAft>
              <a:buNone/>
            </a:pPr>
            <a:r>
              <a:rPr lang="en-US" sz="1500" dirty="0">
                <a:solidFill>
                  <a:schemeClr val="tx2"/>
                </a:solidFill>
              </a:rPr>
              <a:t>P′ generated by Model A,</a:t>
            </a:r>
            <a:endParaRPr lang="en-US" sz="1500" dirty="0"/>
          </a:p>
          <a:p>
            <a:pPr marL="0" indent="0">
              <a:spcAft>
                <a:spcPts val="600"/>
              </a:spcAft>
              <a:buNone/>
            </a:pPr>
            <a:r>
              <a:rPr lang="en-US" sz="1500" dirty="0">
                <a:solidFill>
                  <a:schemeClr val="tx2"/>
                </a:solidFill>
              </a:rPr>
              <a:t>verified blind by B and C</a:t>
            </a:r>
            <a:endParaRPr lang="en-US" sz="1500" dirty="0"/>
          </a:p>
        </p:txBody>
      </p:sp>
      <p:sp>
        <p:nvSpPr>
          <p:cNvPr id="8" name="panel arrow 0"/>
          <p:cNvSpPr/>
          <p:nvPr/>
        </p:nvSpPr>
        <p:spPr>
          <a:xfrm>
            <a:off x="3172968" y="2587752"/>
            <a:ext cx="173736" cy="914"/>
          </a:xfrm>
          <a:prstGeom prst="line">
            <a:avLst/>
          </a:prstGeom>
          <a:noFill/>
          <a:ln w="19050">
            <a:solidFill>
              <a:srgbClr val="4A4A4A"/>
            </a:solidFill>
            <a:prstDash val="solid"/>
            <a:tailEnd type="triangle"/>
          </a:ln>
        </p:spPr>
        <p:txBody>
          <a:bodyPr/>
          <a:lstStyle/>
          <a:p>
            <a:endParaRPr lang="en-US"/>
          </a:p>
        </p:txBody>
      </p:sp>
      <p:sp>
        <p:nvSpPr>
          <p:cNvPr id="9" name="panel 2"/>
          <p:cNvSpPr/>
          <p:nvPr/>
        </p:nvSpPr>
        <p:spPr>
          <a:xfrm>
            <a:off x="3364992" y="1280160"/>
            <a:ext cx="2606040" cy="2606040"/>
          </a:xfrm>
          <a:prstGeom prst="roundRect">
            <a:avLst>
              <a:gd name="adj" fmla="val 280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10" name="badge 2"/>
          <p:cNvSpPr/>
          <p:nvPr/>
        </p:nvSpPr>
        <p:spPr>
          <a:xfrm>
            <a:off x="3502152" y="141732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1" name="badge 2 label"/>
          <p:cNvSpPr txBox="1"/>
          <p:nvPr/>
        </p:nvSpPr>
        <p:spPr>
          <a:xfrm>
            <a:off x="3502152" y="141732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panel 2 title"/>
          <p:cNvSpPr txBox="1"/>
          <p:nvPr/>
        </p:nvSpPr>
        <p:spPr>
          <a:xfrm>
            <a:off x="3931920" y="1417320"/>
            <a:ext cx="1947672" cy="365760"/>
          </a:xfrm>
          <a:prstGeom prst="rect">
            <a:avLst/>
          </a:prstGeom>
          <a:noFill/>
          <a:ln/>
        </p:spPr>
        <p:txBody>
          <a:bodyPr wrap="square" lIns="0" tIns="0" rIns="0" bIns="0" rtlCol="0" anchor="ctr"/>
          <a:lstStyle/>
          <a:p>
            <a:pPr marL="0" indent="0">
              <a:buNone/>
            </a:pPr>
            <a:r>
              <a:rPr lang="en-US" sz="1500" b="1" dirty="0">
                <a:solidFill>
                  <a:schemeClr val="tx1"/>
                </a:solidFill>
              </a:rPr>
              <a:t>Initial solve</a:t>
            </a:r>
            <a:endParaRPr lang="en-US" sz="1500" dirty="0"/>
          </a:p>
        </p:txBody>
      </p:sp>
      <p:sp>
        <p:nvSpPr>
          <p:cNvPr id="13" name="panel 2 body"/>
          <p:cNvSpPr txBox="1"/>
          <p:nvPr/>
        </p:nvSpPr>
        <p:spPr>
          <a:xfrm>
            <a:off x="3547872" y="1965960"/>
            <a:ext cx="2240280" cy="178308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Qwen 2.5 7B answers once</a:t>
            </a:r>
            <a:endParaRPr lang="en-US" sz="1500" dirty="0"/>
          </a:p>
          <a:p>
            <a:pPr marL="0" indent="0">
              <a:spcAft>
                <a:spcPts val="600"/>
              </a:spcAft>
              <a:buNone/>
            </a:pPr>
            <a:r>
              <a:rPr lang="en-US" sz="1500" dirty="0">
                <a:solidFill>
                  <a:schemeClr val="tx2"/>
                </a:solidFill>
              </a:rPr>
              <a:t>13 correct (40.6%) → done</a:t>
            </a:r>
            <a:endParaRPr lang="en-US" sz="1500" dirty="0"/>
          </a:p>
          <a:p>
            <a:pPr marL="0" indent="0">
              <a:spcAft>
                <a:spcPts val="600"/>
              </a:spcAft>
              <a:buNone/>
            </a:pPr>
            <a:r>
              <a:rPr lang="en-US" sz="1500" dirty="0">
                <a:solidFill>
                  <a:schemeClr val="tx2"/>
                </a:solidFill>
              </a:rPr>
              <a:t>19 wrong → ESV</a:t>
            </a:r>
            <a:endParaRPr lang="en-US" sz="1500" dirty="0"/>
          </a:p>
        </p:txBody>
      </p:sp>
      <p:sp>
        <p:nvSpPr>
          <p:cNvPr id="14" name="panel arrow 1"/>
          <p:cNvSpPr/>
          <p:nvPr/>
        </p:nvSpPr>
        <p:spPr>
          <a:xfrm>
            <a:off x="5989320" y="2587752"/>
            <a:ext cx="173736" cy="914"/>
          </a:xfrm>
          <a:prstGeom prst="line">
            <a:avLst/>
          </a:prstGeom>
          <a:noFill/>
          <a:ln w="19050">
            <a:solidFill>
              <a:srgbClr val="4A4A4A"/>
            </a:solidFill>
            <a:prstDash val="solid"/>
            <a:tailEnd type="triangle"/>
          </a:ln>
        </p:spPr>
        <p:txBody>
          <a:bodyPr/>
          <a:lstStyle/>
          <a:p>
            <a:endParaRPr lang="en-US"/>
          </a:p>
        </p:txBody>
      </p:sp>
      <p:sp>
        <p:nvSpPr>
          <p:cNvPr id="15" name="panel 3"/>
          <p:cNvSpPr/>
          <p:nvPr/>
        </p:nvSpPr>
        <p:spPr>
          <a:xfrm>
            <a:off x="6181344" y="1280160"/>
            <a:ext cx="2606040" cy="2606040"/>
          </a:xfrm>
          <a:prstGeom prst="roundRect">
            <a:avLst>
              <a:gd name="adj" fmla="val 2807"/>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16" name="badge 3"/>
          <p:cNvSpPr/>
          <p:nvPr/>
        </p:nvSpPr>
        <p:spPr>
          <a:xfrm>
            <a:off x="6318504" y="141732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7" name="badge 3 label"/>
          <p:cNvSpPr txBox="1"/>
          <p:nvPr/>
        </p:nvSpPr>
        <p:spPr>
          <a:xfrm>
            <a:off x="6318504" y="141732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panel 3 title"/>
          <p:cNvSpPr txBox="1"/>
          <p:nvPr/>
        </p:nvSpPr>
        <p:spPr>
          <a:xfrm>
            <a:off x="6748272" y="1417320"/>
            <a:ext cx="1947672" cy="365760"/>
          </a:xfrm>
          <a:prstGeom prst="rect">
            <a:avLst/>
          </a:prstGeom>
          <a:noFill/>
          <a:ln/>
        </p:spPr>
        <p:txBody>
          <a:bodyPr wrap="square" lIns="0" tIns="0" rIns="0" bIns="0" rtlCol="0" anchor="ctr"/>
          <a:lstStyle/>
          <a:p>
            <a:pPr marL="0" indent="0">
              <a:buNone/>
            </a:pPr>
            <a:r>
              <a:rPr lang="en-US" sz="1500" b="1" dirty="0">
                <a:solidFill>
                  <a:schemeClr val="tx1"/>
                </a:solidFill>
              </a:rPr>
              <a:t>ESV stages (19 failures)</a:t>
            </a:r>
            <a:endParaRPr lang="en-US" sz="1500" dirty="0"/>
          </a:p>
        </p:txBody>
      </p:sp>
      <p:sp>
        <p:nvSpPr>
          <p:cNvPr id="19" name="panel 3 body"/>
          <p:cNvSpPr txBox="1"/>
          <p:nvPr/>
        </p:nvSpPr>
        <p:spPr>
          <a:xfrm>
            <a:off x="6364224" y="1965960"/>
            <a:ext cx="2240280" cy="178308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Recognized: 15</a:t>
            </a:r>
            <a:endParaRPr lang="en-US" sz="1500" dirty="0"/>
          </a:p>
          <a:p>
            <a:pPr marL="0" indent="0">
              <a:spcAft>
                <a:spcPts val="600"/>
              </a:spcAft>
              <a:buNone/>
            </a:pPr>
            <a:r>
              <a:rPr lang="en-US" sz="1500" dirty="0">
                <a:solidFill>
                  <a:schemeClr val="tx2"/>
                </a:solidFill>
              </a:rPr>
              <a:t>Correct diagnosis: 3</a:t>
            </a:r>
            <a:endParaRPr lang="en-US" sz="1500" dirty="0"/>
          </a:p>
          <a:p>
            <a:pPr marL="0" indent="0">
              <a:spcAft>
                <a:spcPts val="600"/>
              </a:spcAft>
              <a:buNone/>
            </a:pPr>
            <a:r>
              <a:rPr lang="en-US" sz="1500" dirty="0">
                <a:solidFill>
                  <a:schemeClr val="tx2"/>
                </a:solidFill>
              </a:rPr>
              <a:t>Valid strategy: 7</a:t>
            </a:r>
            <a:endParaRPr lang="en-US" sz="1500" dirty="0"/>
          </a:p>
          <a:p>
            <a:pPr marL="0" indent="0">
              <a:spcAft>
                <a:spcPts val="600"/>
              </a:spcAft>
              <a:buNone/>
            </a:pPr>
            <a:r>
              <a:rPr lang="en-US" sz="1500" dirty="0">
                <a:solidFill>
                  <a:schemeClr val="tx2"/>
                </a:solidFill>
              </a:rPr>
              <a:t>Recovered: 5</a:t>
            </a:r>
            <a:endParaRPr lang="en-US" sz="1500" dirty="0"/>
          </a:p>
        </p:txBody>
      </p:sp>
      <p:sp>
        <p:nvSpPr>
          <p:cNvPr id="20" name="panel arrow 2"/>
          <p:cNvSpPr/>
          <p:nvPr/>
        </p:nvSpPr>
        <p:spPr>
          <a:xfrm>
            <a:off x="8805672" y="2587752"/>
            <a:ext cx="173736" cy="914"/>
          </a:xfrm>
          <a:prstGeom prst="line">
            <a:avLst/>
          </a:prstGeom>
          <a:noFill/>
          <a:ln w="19050">
            <a:solidFill>
              <a:srgbClr val="4A4A4A"/>
            </a:solidFill>
            <a:prstDash val="solid"/>
            <a:tailEnd type="triangle"/>
          </a:ln>
        </p:spPr>
        <p:txBody>
          <a:bodyPr/>
          <a:lstStyle/>
          <a:p>
            <a:endParaRPr lang="en-US"/>
          </a:p>
        </p:txBody>
      </p:sp>
      <p:sp>
        <p:nvSpPr>
          <p:cNvPr id="21" name="panel 4"/>
          <p:cNvSpPr/>
          <p:nvPr/>
        </p:nvSpPr>
        <p:spPr>
          <a:xfrm>
            <a:off x="8997696" y="1280160"/>
            <a:ext cx="2606040" cy="2606040"/>
          </a:xfrm>
          <a:prstGeom prst="roundRect">
            <a:avLst>
              <a:gd name="adj" fmla="val 280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22" name="badge 4"/>
          <p:cNvSpPr/>
          <p:nvPr/>
        </p:nvSpPr>
        <p:spPr>
          <a:xfrm>
            <a:off x="9134856" y="141732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3" name="badge 4 label"/>
          <p:cNvSpPr txBox="1"/>
          <p:nvPr/>
        </p:nvSpPr>
        <p:spPr>
          <a:xfrm>
            <a:off x="9134856" y="141732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4" name="panel 4 title"/>
          <p:cNvSpPr txBox="1"/>
          <p:nvPr/>
        </p:nvSpPr>
        <p:spPr>
          <a:xfrm>
            <a:off x="9564624" y="1417320"/>
            <a:ext cx="1947672" cy="365760"/>
          </a:xfrm>
          <a:prstGeom prst="rect">
            <a:avLst/>
          </a:prstGeom>
          <a:noFill/>
          <a:ln/>
        </p:spPr>
        <p:txBody>
          <a:bodyPr wrap="square" lIns="0" tIns="0" rIns="0" bIns="0" rtlCol="0" anchor="ctr"/>
          <a:lstStyle/>
          <a:p>
            <a:pPr marL="0" indent="0">
              <a:buNone/>
            </a:pPr>
            <a:r>
              <a:rPr lang="en-US" sz="1500" b="1" dirty="0">
                <a:solidFill>
                  <a:schemeClr val="tx1"/>
                </a:solidFill>
              </a:rPr>
              <a:t>Answer &amp; grade</a:t>
            </a:r>
            <a:endParaRPr lang="en-US" sz="1500" dirty="0"/>
          </a:p>
        </p:txBody>
      </p:sp>
      <p:sp>
        <p:nvSpPr>
          <p:cNvPr id="25" name="panel 4 body"/>
          <p:cNvSpPr txBox="1"/>
          <p:nvPr/>
        </p:nvSpPr>
        <p:spPr>
          <a:xfrm>
            <a:off x="9180576" y="1965960"/>
            <a:ext cx="2240280" cy="178308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Deterministic scoring</a:t>
            </a:r>
            <a:endParaRPr lang="en-US" sz="1500" dirty="0"/>
          </a:p>
          <a:p>
            <a:pPr marL="0" indent="0">
              <a:spcAft>
                <a:spcPts val="600"/>
              </a:spcAft>
              <a:buNone/>
            </a:pPr>
            <a:r>
              <a:rPr lang="en-US" sz="1500" dirty="0">
                <a:solidFill>
                  <a:schemeClr val="tx2"/>
                </a:solidFill>
              </a:rPr>
              <a:t>+ judge for stages 2-3</a:t>
            </a:r>
            <a:endParaRPr lang="en-US" sz="1500" dirty="0"/>
          </a:p>
          <a:p>
            <a:pPr marL="0" indent="0">
              <a:spcAft>
                <a:spcPts val="600"/>
              </a:spcAft>
              <a:buNone/>
            </a:pPr>
            <a:r>
              <a:rPr lang="en-US" sz="1500" dirty="0">
                <a:solidFill>
                  <a:schemeClr val="tx2"/>
                </a:solidFill>
              </a:rPr>
              <a:t>Final: 18 / 32 correct</a:t>
            </a:r>
            <a:endParaRPr lang="en-US" sz="1500" dirty="0"/>
          </a:p>
          <a:p>
            <a:pPr marL="0" indent="0">
              <a:spcAft>
                <a:spcPts val="600"/>
              </a:spcAft>
              <a:buNone/>
            </a:pPr>
            <a:r>
              <a:rPr lang="en-US" sz="1500" dirty="0">
                <a:solidFill>
                  <a:schemeClr val="tx2"/>
                </a:solidFill>
              </a:rPr>
              <a:t>(56.2%)</a:t>
            </a:r>
            <a:endParaRPr lang="en-US" sz="1500" dirty="0"/>
          </a:p>
        </p:txBody>
      </p:sp>
      <p:sp>
        <p:nvSpPr>
          <p:cNvPr id="26" name="scope frame"/>
          <p:cNvSpPr/>
          <p:nvPr/>
        </p:nvSpPr>
        <p:spPr>
          <a:xfrm>
            <a:off x="548640" y="4160520"/>
            <a:ext cx="11094415" cy="2011680"/>
          </a:xfrm>
          <a:prstGeom prst="roundRect">
            <a:avLst>
              <a:gd name="adj" fmla="val 3636"/>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27" name="scope heading"/>
          <p:cNvSpPr txBox="1"/>
          <p:nvPr/>
        </p:nvSpPr>
        <p:spPr>
          <a:xfrm>
            <a:off x="731520" y="4251960"/>
            <a:ext cx="3657600" cy="365760"/>
          </a:xfrm>
          <a:prstGeom prst="rect">
            <a:avLst/>
          </a:prstGeom>
          <a:noFill/>
          <a:ln/>
        </p:spPr>
        <p:txBody>
          <a:bodyPr wrap="square" lIns="0" tIns="0" rIns="0" bIns="0" rtlCol="0" anchor="ctr"/>
          <a:lstStyle/>
          <a:p>
            <a:pPr marL="0" indent="0">
              <a:buNone/>
            </a:pPr>
            <a:r>
              <a:rPr lang="en-US" sz="1500" b="1" dirty="0">
                <a:solidFill>
                  <a:schemeClr val="tx1"/>
                </a:solidFill>
              </a:rPr>
              <a:t>Scope &amp; limitations</a:t>
            </a:r>
            <a:endParaRPr lang="en-US" sz="1500" dirty="0"/>
          </a:p>
        </p:txBody>
      </p:sp>
      <p:sp>
        <p:nvSpPr>
          <p:cNvPr id="28" name="limit 1"/>
          <p:cNvSpPr/>
          <p:nvPr/>
        </p:nvSpPr>
        <p:spPr>
          <a:xfrm>
            <a:off x="731520" y="4709160"/>
            <a:ext cx="3454298" cy="1280160"/>
          </a:xfrm>
          <a:prstGeom prst="roundRect">
            <a:avLst>
              <a:gd name="adj" fmla="val 4286"/>
            </a:avLst>
          </a:prstGeom>
          <a:solidFill>
            <a:schemeClr val="accent5"/>
          </a:solidFill>
          <a:ln w="12700">
            <a:solidFill>
              <a:schemeClr val="accent5"/>
            </a:solidFill>
            <a:prstDash val="solid"/>
          </a:ln>
        </p:spPr>
        <p:txBody>
          <a:bodyPr/>
          <a:lstStyle/>
          <a:p>
            <a:endParaRPr lang="en-US"/>
          </a:p>
        </p:txBody>
      </p:sp>
      <p:sp>
        <p:nvSpPr>
          <p:cNvPr id="29" name="limit 1 text"/>
          <p:cNvSpPr txBox="1"/>
          <p:nvPr/>
        </p:nvSpPr>
        <p:spPr>
          <a:xfrm>
            <a:off x="868680" y="4709160"/>
            <a:ext cx="3179978" cy="1280160"/>
          </a:xfrm>
          <a:prstGeom prst="rect">
            <a:avLst/>
          </a:prstGeom>
          <a:noFill/>
          <a:ln/>
        </p:spPr>
        <p:txBody>
          <a:bodyPr wrap="square" lIns="0" tIns="0" rIns="0" bIns="0" rtlCol="0" anchor="ctr"/>
          <a:lstStyle/>
          <a:p>
            <a:pPr marL="0" indent="0">
              <a:buNone/>
            </a:pPr>
            <a:r>
              <a:rPr lang="en-US" sz="1300" dirty="0">
                <a:solidFill>
                  <a:schemeClr val="tx1"/>
                </a:solidFill>
              </a:rPr>
              <a:t>BY DESIGN: ESV runs only on failures, so after blind recognition the model knows its first answer was wrong (never the correct one).</a:t>
            </a:r>
            <a:endParaRPr lang="en-US" sz="1300" dirty="0"/>
          </a:p>
        </p:txBody>
      </p:sp>
      <p:sp>
        <p:nvSpPr>
          <p:cNvPr id="30" name="limit 2"/>
          <p:cNvSpPr/>
          <p:nvPr/>
        </p:nvSpPr>
        <p:spPr>
          <a:xfrm>
            <a:off x="4368698" y="4709160"/>
            <a:ext cx="3454298" cy="1280160"/>
          </a:xfrm>
          <a:prstGeom prst="roundRect">
            <a:avLst>
              <a:gd name="adj" fmla="val 4286"/>
            </a:avLst>
          </a:prstGeom>
          <a:solidFill>
            <a:schemeClr val="accent6"/>
          </a:solidFill>
          <a:ln w="12700">
            <a:solidFill>
              <a:schemeClr val="accent6"/>
            </a:solidFill>
            <a:prstDash val="solid"/>
          </a:ln>
        </p:spPr>
        <p:txBody>
          <a:bodyPr/>
          <a:lstStyle/>
          <a:p>
            <a:endParaRPr lang="en-US"/>
          </a:p>
        </p:txBody>
      </p:sp>
      <p:sp>
        <p:nvSpPr>
          <p:cNvPr id="31" name="limit 2 text"/>
          <p:cNvSpPr txBox="1"/>
          <p:nvPr/>
        </p:nvSpPr>
        <p:spPr>
          <a:xfrm>
            <a:off x="4505858" y="4709160"/>
            <a:ext cx="3179978" cy="1280160"/>
          </a:xfrm>
          <a:prstGeom prst="rect">
            <a:avLst/>
          </a:prstGeom>
          <a:noFill/>
          <a:ln/>
        </p:spPr>
        <p:txBody>
          <a:bodyPr wrap="square" lIns="0" tIns="0" rIns="0" bIns="0" rtlCol="0" anchor="ctr"/>
          <a:lstStyle/>
          <a:p>
            <a:pPr marL="0" indent="0">
              <a:buNone/>
            </a:pPr>
            <a:r>
              <a:rPr lang="en-US" sz="1300" dirty="0">
                <a:solidFill>
                  <a:schemeClr val="tx1"/>
                </a:solidFill>
              </a:rPr>
              <a:t>JUDGE-GRADED: diagnosis and strategy correctness come from an LLM judge given the gold answer; spot-checked, not human-verified.</a:t>
            </a:r>
            <a:endParaRPr lang="en-US" sz="1300" dirty="0"/>
          </a:p>
        </p:txBody>
      </p:sp>
      <p:sp>
        <p:nvSpPr>
          <p:cNvPr id="32" name="limit 3"/>
          <p:cNvSpPr/>
          <p:nvPr/>
        </p:nvSpPr>
        <p:spPr>
          <a:xfrm>
            <a:off x="8005877" y="4709160"/>
            <a:ext cx="3454298" cy="1280160"/>
          </a:xfrm>
          <a:prstGeom prst="roundRect">
            <a:avLst>
              <a:gd name="adj" fmla="val 4286"/>
            </a:avLst>
          </a:prstGeom>
          <a:solidFill>
            <a:srgbClr val="F8DEDA"/>
          </a:solidFill>
          <a:ln w="12700">
            <a:solidFill>
              <a:srgbClr val="F8DEDA"/>
            </a:solidFill>
            <a:prstDash val="solid"/>
          </a:ln>
        </p:spPr>
        <p:txBody>
          <a:bodyPr/>
          <a:lstStyle/>
          <a:p>
            <a:endParaRPr lang="en-US"/>
          </a:p>
        </p:txBody>
      </p:sp>
      <p:sp>
        <p:nvSpPr>
          <p:cNvPr id="33" name="limit 3 text"/>
          <p:cNvSpPr txBox="1"/>
          <p:nvPr/>
        </p:nvSpPr>
        <p:spPr>
          <a:xfrm>
            <a:off x="8143037" y="4709160"/>
            <a:ext cx="3179978" cy="1280160"/>
          </a:xfrm>
          <a:prstGeom prst="rect">
            <a:avLst/>
          </a:prstGeom>
          <a:noFill/>
          <a:ln/>
        </p:spPr>
        <p:txBody>
          <a:bodyPr wrap="square" lIns="0" tIns="0" rIns="0" bIns="0" rtlCol="0" anchor="ctr"/>
          <a:lstStyle/>
          <a:p>
            <a:pPr marL="0" indent="0">
              <a:buNone/>
            </a:pPr>
            <a:r>
              <a:rPr lang="en-US" sz="1300" dirty="0">
                <a:solidFill>
                  <a:schemeClr val="tx1"/>
                </a:solidFill>
              </a:rPr>
              <a:t>HONEST LIMITATION: 19 failures on a 16-pair development set, and ESV’s stages are triggered by the gold answer, so its accuracy can never fall below its initial solve.</a:t>
            </a:r>
            <a:endParaRPr lang="en-US" sz="1300" dirty="0"/>
          </a:p>
        </p:txBody>
      </p:sp>
      <p:sp>
        <p:nvSpPr>
          <p:cNvPr id="34"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Results</a:t>
            </a:r>
            <a:endParaRPr lang="en-US" sz="3600" dirty="0"/>
          </a:p>
        </p:txBody>
      </p:sp>
      <p:sp>
        <p:nvSpPr>
          <p:cNvPr id="3" name="results notes"/>
          <p:cNvSpPr txBox="1"/>
          <p:nvPr/>
        </p:nvSpPr>
        <p:spPr>
          <a:xfrm>
            <a:off x="548640" y="1280160"/>
            <a:ext cx="3291840" cy="4937760"/>
          </a:xfrm>
          <a:prstGeom prst="rect">
            <a:avLst/>
          </a:prstGeom>
          <a:noFill/>
          <a:ln/>
        </p:spPr>
        <p:txBody>
          <a:bodyPr wrap="square" rtlCol="0" anchor="t"/>
          <a:lstStyle/>
          <a:p>
            <a:pPr marL="0" indent="0">
              <a:spcAft>
                <a:spcPts val="900"/>
              </a:spcAft>
              <a:buNone/>
            </a:pPr>
            <a:r>
              <a:rPr lang="en-US" sz="1400" b="1" dirty="0">
                <a:solidFill>
                  <a:schemeClr val="tx1"/>
                </a:solidFill>
              </a:rPr>
              <a:t>ESV leads once settings are aligned: </a:t>
            </a:r>
            <a:r>
              <a:rPr lang="en-US" sz="1400" dirty="0">
                <a:solidFill>
                  <a:schemeClr val="tx2"/>
                </a:solidFill>
              </a:rPr>
              <a:t>56.2% overall vs 37.5% for CoT and 28.1% for Direct QA.</a:t>
            </a:r>
            <a:endParaRPr lang="en-US" sz="1400" dirty="0"/>
          </a:p>
          <a:p>
            <a:pPr marL="0" indent="0">
              <a:spcAft>
                <a:spcPts val="900"/>
              </a:spcAft>
              <a:buNone/>
            </a:pPr>
            <a:r>
              <a:rPr lang="en-US" sz="1400" b="1" dirty="0">
                <a:solidFill>
                  <a:schemeClr val="tx1"/>
                </a:solidFill>
              </a:rPr>
              <a:t>Paired on the same 32 instances: </a:t>
            </a:r>
            <a:r>
              <a:rPr lang="en-US" sz="1400" dirty="0">
                <a:solidFill>
                  <a:schemeClr val="tx2"/>
                </a:solidFill>
              </a:rPr>
              <a:t>ESV alone correct on 9, CoT alone on 3 (McNemar p = 0.146): promising, not yet significant.</a:t>
            </a:r>
            <a:endParaRPr lang="en-US" sz="1400" dirty="0"/>
          </a:p>
          <a:p>
            <a:pPr marL="0" indent="0">
              <a:spcAft>
                <a:spcPts val="900"/>
              </a:spcAft>
              <a:buNone/>
            </a:pPr>
            <a:r>
              <a:rPr lang="en-US" sz="1400" b="1" dirty="0">
                <a:solidFill>
                  <a:schemeClr val="tx1"/>
                </a:solidFill>
              </a:rPr>
              <a:t>Perturbations hurt the baselines: </a:t>
            </a:r>
            <a:r>
              <a:rPr lang="en-US" sz="1400" dirty="0">
                <a:solidFill>
                  <a:schemeClr val="tx2"/>
                </a:solidFill>
              </a:rPr>
              <a:t>CoT drops 12.5 pp and Direct QA 6.2 pp on P′; ESV holds 56.2% on both.</a:t>
            </a:r>
            <a:endParaRPr lang="en-US" sz="1400" dirty="0"/>
          </a:p>
          <a:p>
            <a:pPr marL="0" indent="0">
              <a:spcAft>
                <a:spcPts val="900"/>
              </a:spcAft>
              <a:buNone/>
            </a:pPr>
            <a:r>
              <a:rPr lang="en-US" sz="1400" b="1" dirty="0">
                <a:solidFill>
                  <a:schemeClr val="tx1"/>
                </a:solidFill>
              </a:rPr>
              <a:t>Caveat: </a:t>
            </a:r>
            <a:r>
              <a:rPr lang="en-US" sz="1400" dirty="0">
                <a:solidFill>
                  <a:schemeClr val="tx2"/>
                </a:solidFill>
              </a:rPr>
              <a:t>ESV’s stages run only when the initial answer is wrong per the gold answer, so it cannot fall below its 40.6% initial solve.</a:t>
            </a:r>
            <a:endParaRPr lang="en-US" sz="1400" dirty="0"/>
          </a:p>
          <a:p>
            <a:pPr marL="0" indent="0">
              <a:spcAft>
                <a:spcPts val="900"/>
              </a:spcAft>
              <a:buNone/>
            </a:pPr>
            <a:r>
              <a:rPr lang="en-US" sz="1400" b="1" dirty="0">
                <a:solidFill>
                  <a:schemeClr val="tx1"/>
                </a:solidFill>
              </a:rPr>
              <a:t>Diagnosis (16%) is the bottleneck </a:t>
            </a:r>
            <a:r>
              <a:rPr lang="en-US" sz="1400" dirty="0">
                <a:solidFill>
                  <a:schemeClr val="tx2"/>
                </a:solidFill>
              </a:rPr>
              <a:t>for a 7B model; recognition (79%) is the strongest stage.</a:t>
            </a:r>
            <a:endParaRPr lang="en-US" sz="1400" dirty="0"/>
          </a:p>
        </p:txBody>
      </p:sp>
      <p:graphicFrame>
        <p:nvGraphicFramePr>
          <p:cNvPr id="4" name="chart methods"/>
          <p:cNvGraphicFramePr/>
          <p:nvPr/>
        </p:nvGraphicFramePr>
        <p:xfrm>
          <a:off x="4069080" y="1280160"/>
          <a:ext cx="3730752"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stages"/>
          <p:cNvGraphicFramePr/>
          <p:nvPr/>
        </p:nvGraphicFramePr>
        <p:xfrm>
          <a:off x="7909560" y="1280160"/>
          <a:ext cx="3730752" cy="26060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iterations"/>
          <p:cNvGraphicFramePr/>
          <p:nvPr/>
        </p:nvGraphicFramePr>
        <p:xfrm>
          <a:off x="4069080" y="4023360"/>
          <a:ext cx="3730752"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7" name="gain callout"/>
          <p:cNvSpPr/>
          <p:nvPr/>
        </p:nvSpPr>
        <p:spPr>
          <a:xfrm>
            <a:off x="7909560" y="4023360"/>
            <a:ext cx="3730752" cy="2286000"/>
          </a:xfrm>
          <a:prstGeom prst="roundRect">
            <a:avLst>
              <a:gd name="adj" fmla="val 3200"/>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US"/>
          </a:p>
        </p:txBody>
      </p:sp>
      <p:sp>
        <p:nvSpPr>
          <p:cNvPr id="8" name="gain stat"/>
          <p:cNvSpPr txBox="1"/>
          <p:nvPr/>
        </p:nvSpPr>
        <p:spPr>
          <a:xfrm>
            <a:off x="8138160" y="4206240"/>
            <a:ext cx="3273552" cy="1005840"/>
          </a:xfrm>
          <a:prstGeom prst="rect">
            <a:avLst/>
          </a:prstGeom>
          <a:noFill/>
          <a:ln/>
        </p:spPr>
        <p:txBody>
          <a:bodyPr wrap="square" lIns="0" tIns="0" rIns="0" bIns="0" rtlCol="0" anchor="ctr"/>
          <a:lstStyle/>
          <a:p>
            <a:pPr marL="0" indent="0">
              <a:buNone/>
            </a:pPr>
            <a:r>
              <a:rPr lang="en-US" sz="6000" b="1" dirty="0">
                <a:solidFill>
                  <a:srgbClr val="7FD1A6"/>
                </a:solidFill>
              </a:rPr>
              <a:t>+18.8 pp</a:t>
            </a:r>
            <a:endParaRPr lang="en-US" sz="6000" dirty="0"/>
          </a:p>
        </p:txBody>
      </p:sp>
      <p:sp>
        <p:nvSpPr>
          <p:cNvPr id="9" name="gain label"/>
          <p:cNvSpPr txBox="1"/>
          <p:nvPr/>
        </p:nvSpPr>
        <p:spPr>
          <a:xfrm>
            <a:off x="8138160" y="5257800"/>
            <a:ext cx="3273552" cy="822960"/>
          </a:xfrm>
          <a:prstGeom prst="rect">
            <a:avLst/>
          </a:prstGeom>
          <a:noFill/>
          <a:ln/>
        </p:spPr>
        <p:txBody>
          <a:bodyPr wrap="square" lIns="0" tIns="0" rIns="0" bIns="0" rtlCol="0" anchor="t"/>
          <a:lstStyle/>
          <a:p>
            <a:pPr marL="0" indent="0">
              <a:buNone/>
            </a:pPr>
            <a:r>
              <a:rPr lang="en-US" sz="1500" dirty="0">
                <a:solidFill>
                  <a:srgbClr val="D9D9D9"/>
                </a:solidFill>
              </a:rPr>
              <a:t>ESV over CoT, same model, settings and scorer: 18 vs 12 of 32 problems correct</a:t>
            </a:r>
            <a:endParaRPr lang="en-US" sz="1500" dirty="0"/>
          </a:p>
        </p:txBody>
      </p:sp>
      <p:sp>
        <p:nvSpPr>
          <p:cNvPr id="10" name="results footnote"/>
          <p:cNvSpPr txBox="1"/>
          <p:nvPr/>
        </p:nvSpPr>
        <p:spPr>
          <a:xfrm>
            <a:off x="548640" y="6355080"/>
            <a:ext cx="10058400" cy="320040"/>
          </a:xfrm>
          <a:prstGeom prst="rect">
            <a:avLst/>
          </a:prstGeom>
          <a:noFill/>
          <a:ln/>
        </p:spPr>
        <p:txBody>
          <a:bodyPr wrap="square" lIns="0" tIns="0" rIns="0" bIns="0" rtlCol="0" anchor="ctr"/>
          <a:lstStyle/>
          <a:p>
            <a:pPr marL="0" indent="0">
              <a:buNone/>
            </a:pPr>
            <a:r>
              <a:rPr lang="en-US" sz="1000" dirty="0">
                <a:solidFill>
                  <a:srgbClr val="8C8C8C"/>
                </a:solidFill>
              </a:rPr>
              <a:t>All methods: Qwen 2.5 7B Instruct, temperature 0, identical question text, parsing and scorer; judge GPT-OSS-120B. 16 JEEBench pairs, development set.</a:t>
            </a:r>
            <a:endParaRPr lang="en-US" sz="1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ESV Proposal">
  <a:themeElements>
    <a:clrScheme name="ESV Proposal">
      <a:dk1>
        <a:srgbClr val="1A1B2E"/>
      </a:dk1>
      <a:lt1>
        <a:srgbClr val="FFFFFF"/>
      </a:lt1>
      <a:dk2>
        <a:srgbClr val="4A4A4A"/>
      </a:dk2>
      <a:lt2>
        <a:srgbClr val="F4F0E8"/>
      </a:lt2>
      <a:accent1>
        <a:srgbClr val="2E7D5B"/>
      </a:accent1>
      <a:accent2>
        <a:srgbClr val="B8740F"/>
      </a:accent2>
      <a:accent3>
        <a:srgbClr val="3B5BA9"/>
      </a:accent3>
      <a:accent4>
        <a:srgbClr val="8C8C8C"/>
      </a:accent4>
      <a:accent5>
        <a:srgbClr val="DCEFE3"/>
      </a:accent5>
      <a:accent6>
        <a:srgbClr val="FBEBD0"/>
      </a:accent6>
      <a:hlink>
        <a:srgbClr val="3B5BA9"/>
      </a:hlink>
      <a:folHlink>
        <a:srgbClr val="6D4C8D"/>
      </a:folHlink>
    </a:clrScheme>
    <a:fontScheme name="ESV Propo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2128</Words>
  <Application>Microsoft Office PowerPoint</Application>
  <PresentationFormat>Widescreen</PresentationFormat>
  <Paragraphs>179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ESV Proposal</vt:lpstr>
      <vt:lpstr>ESV Project Proposal</vt:lpstr>
      <vt:lpstr>Main Idea</vt:lpstr>
      <vt:lpstr>Literature Review + Gaps (Perturbation Robustness)</vt:lpstr>
      <vt:lpstr>Literature Review + Gaps (Self-Correction)</vt:lpstr>
      <vt:lpstr>Our Plan for Building Strategy-Breaking Perturbations</vt:lpstr>
      <vt:lpstr>What Is a Strategy-Breaking Perturbation?</vt:lpstr>
      <vt:lpstr>ESV Pipeline Structure</vt:lpstr>
      <vt:lpstr>Pilot Experiment</vt:lpstr>
      <vt:lpstr>Mini Experiment Figure</vt:lpstr>
      <vt:lpstr>Results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ESV Project Proposal</dc:title>
  <dc:subject>PptxGenJS Presentation</dc:subject>
  <dc:creator>Ekansh Agrawal and Ritvij Sharma</dc:creator>
  <cp:lastModifiedBy>Ekansh Agrawal</cp:lastModifiedBy>
  <cp:revision>5</cp:revision>
  <dcterms:created xsi:type="dcterms:W3CDTF">2026-10-15T05:20:51Z</dcterms:created>
  <dcterms:modified xsi:type="dcterms:W3CDTF">2026-10-15T13:54:29Z</dcterms:modified>
</cp:coreProperties>
</file>